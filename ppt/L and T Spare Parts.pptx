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89" r:id="rId9"/>
    <p:sldId id="290" r:id="rId10"/>
    <p:sldId id="266" r:id="rId11"/>
    <p:sldId id="268" r:id="rId12"/>
    <p:sldId id="273" r:id="rId13"/>
    <p:sldId id="269" r:id="rId14"/>
    <p:sldId id="271" r:id="rId15"/>
    <p:sldId id="272" r:id="rId16"/>
    <p:sldId id="267" r:id="rId17"/>
    <p:sldId id="265" r:id="rId18"/>
    <p:sldId id="270" r:id="rId19"/>
    <p:sldId id="275" r:id="rId20"/>
    <p:sldId id="276" r:id="rId21"/>
    <p:sldId id="274" r:id="rId22"/>
    <p:sldId id="277" r:id="rId23"/>
    <p:sldId id="279" r:id="rId24"/>
    <p:sldId id="280" r:id="rId25"/>
    <p:sldId id="278" r:id="rId26"/>
    <p:sldId id="281" r:id="rId27"/>
    <p:sldId id="282" r:id="rId28"/>
    <p:sldId id="284" r:id="rId29"/>
    <p:sldId id="291" r:id="rId30"/>
    <p:sldId id="285" r:id="rId31"/>
    <p:sldId id="286" r:id="rId32"/>
    <p:sldId id="283" r:id="rId33"/>
    <p:sldId id="287" r:id="rId34"/>
    <p:sldId id="28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M-U\Forecasting\15-16%20Integrative%20Case\L%20and%20T%20Spare%20Parts%20Forecas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M-U\Forecasting\15-16%20Integrative%20Case\L%20and%20T%20Spare%20Parts%20Forecas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L &amp; T - 07063-51210I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Regression!$A$2:$A$50</c:f>
              <c:numCache>
                <c:formatCode>mmm/yyyy</c:formatCode>
                <c:ptCount val="49"/>
                <c:pt idx="0">
                  <c:v>39904</c:v>
                </c:pt>
                <c:pt idx="1">
                  <c:v>39934</c:v>
                </c:pt>
                <c:pt idx="2">
                  <c:v>39965</c:v>
                </c:pt>
                <c:pt idx="3">
                  <c:v>39995</c:v>
                </c:pt>
                <c:pt idx="4">
                  <c:v>40026</c:v>
                </c:pt>
                <c:pt idx="5">
                  <c:v>40057</c:v>
                </c:pt>
                <c:pt idx="6">
                  <c:v>40087</c:v>
                </c:pt>
                <c:pt idx="7">
                  <c:v>40118</c:v>
                </c:pt>
                <c:pt idx="8">
                  <c:v>40148</c:v>
                </c:pt>
                <c:pt idx="9">
                  <c:v>40179</c:v>
                </c:pt>
                <c:pt idx="10">
                  <c:v>40210</c:v>
                </c:pt>
                <c:pt idx="11">
                  <c:v>40238</c:v>
                </c:pt>
                <c:pt idx="12">
                  <c:v>40269</c:v>
                </c:pt>
                <c:pt idx="13">
                  <c:v>40299</c:v>
                </c:pt>
                <c:pt idx="14">
                  <c:v>40330</c:v>
                </c:pt>
                <c:pt idx="15">
                  <c:v>40360</c:v>
                </c:pt>
                <c:pt idx="16">
                  <c:v>40391</c:v>
                </c:pt>
                <c:pt idx="17">
                  <c:v>40422</c:v>
                </c:pt>
                <c:pt idx="18">
                  <c:v>40452</c:v>
                </c:pt>
                <c:pt idx="19">
                  <c:v>40483</c:v>
                </c:pt>
                <c:pt idx="20">
                  <c:v>40513</c:v>
                </c:pt>
                <c:pt idx="21">
                  <c:v>40544</c:v>
                </c:pt>
                <c:pt idx="22">
                  <c:v>40575</c:v>
                </c:pt>
                <c:pt idx="23">
                  <c:v>40603</c:v>
                </c:pt>
                <c:pt idx="24">
                  <c:v>40634</c:v>
                </c:pt>
                <c:pt idx="25">
                  <c:v>40664</c:v>
                </c:pt>
                <c:pt idx="26">
                  <c:v>40695</c:v>
                </c:pt>
                <c:pt idx="27">
                  <c:v>40725</c:v>
                </c:pt>
                <c:pt idx="28">
                  <c:v>40756</c:v>
                </c:pt>
                <c:pt idx="29">
                  <c:v>40787</c:v>
                </c:pt>
                <c:pt idx="30">
                  <c:v>40817</c:v>
                </c:pt>
                <c:pt idx="31">
                  <c:v>40848</c:v>
                </c:pt>
                <c:pt idx="32">
                  <c:v>40878</c:v>
                </c:pt>
                <c:pt idx="33">
                  <c:v>40909</c:v>
                </c:pt>
                <c:pt idx="34">
                  <c:v>40940</c:v>
                </c:pt>
                <c:pt idx="35">
                  <c:v>40969</c:v>
                </c:pt>
                <c:pt idx="36">
                  <c:v>41000</c:v>
                </c:pt>
                <c:pt idx="37">
                  <c:v>41030</c:v>
                </c:pt>
                <c:pt idx="38">
                  <c:v>41061</c:v>
                </c:pt>
                <c:pt idx="39">
                  <c:v>41091</c:v>
                </c:pt>
                <c:pt idx="40">
                  <c:v>41122</c:v>
                </c:pt>
                <c:pt idx="41">
                  <c:v>41153</c:v>
                </c:pt>
                <c:pt idx="42">
                  <c:v>41183</c:v>
                </c:pt>
                <c:pt idx="43">
                  <c:v>41214</c:v>
                </c:pt>
                <c:pt idx="44">
                  <c:v>41244</c:v>
                </c:pt>
                <c:pt idx="45">
                  <c:v>41275</c:v>
                </c:pt>
                <c:pt idx="46">
                  <c:v>41306</c:v>
                </c:pt>
                <c:pt idx="47">
                  <c:v>41334</c:v>
                </c:pt>
                <c:pt idx="48">
                  <c:v>41365</c:v>
                </c:pt>
              </c:numCache>
            </c:numRef>
          </c:cat>
          <c:val>
            <c:numRef>
              <c:f>Regression!$B$2:$B$50</c:f>
              <c:numCache>
                <c:formatCode>General</c:formatCode>
                <c:ptCount val="49"/>
                <c:pt idx="0">
                  <c:v>435</c:v>
                </c:pt>
                <c:pt idx="1">
                  <c:v>349</c:v>
                </c:pt>
                <c:pt idx="2">
                  <c:v>339</c:v>
                </c:pt>
                <c:pt idx="3">
                  <c:v>338</c:v>
                </c:pt>
                <c:pt idx="4">
                  <c:v>389</c:v>
                </c:pt>
                <c:pt idx="5">
                  <c:v>294</c:v>
                </c:pt>
                <c:pt idx="6">
                  <c:v>322</c:v>
                </c:pt>
                <c:pt idx="7">
                  <c:v>407</c:v>
                </c:pt>
                <c:pt idx="8">
                  <c:v>432</c:v>
                </c:pt>
                <c:pt idx="9">
                  <c:v>387</c:v>
                </c:pt>
                <c:pt idx="10">
                  <c:v>438</c:v>
                </c:pt>
                <c:pt idx="11">
                  <c:v>577</c:v>
                </c:pt>
                <c:pt idx="12">
                  <c:v>334</c:v>
                </c:pt>
                <c:pt idx="13">
                  <c:v>458</c:v>
                </c:pt>
                <c:pt idx="14">
                  <c:v>416</c:v>
                </c:pt>
                <c:pt idx="15">
                  <c:v>326</c:v>
                </c:pt>
                <c:pt idx="16">
                  <c:v>373</c:v>
                </c:pt>
                <c:pt idx="17">
                  <c:v>460</c:v>
                </c:pt>
                <c:pt idx="18">
                  <c:v>344</c:v>
                </c:pt>
                <c:pt idx="19">
                  <c:v>465</c:v>
                </c:pt>
                <c:pt idx="20">
                  <c:v>484</c:v>
                </c:pt>
                <c:pt idx="21">
                  <c:v>527</c:v>
                </c:pt>
                <c:pt idx="22">
                  <c:v>421</c:v>
                </c:pt>
                <c:pt idx="23">
                  <c:v>567</c:v>
                </c:pt>
                <c:pt idx="24">
                  <c:v>437</c:v>
                </c:pt>
                <c:pt idx="25">
                  <c:v>461</c:v>
                </c:pt>
                <c:pt idx="26">
                  <c:v>595</c:v>
                </c:pt>
                <c:pt idx="27">
                  <c:v>540</c:v>
                </c:pt>
                <c:pt idx="28">
                  <c:v>541</c:v>
                </c:pt>
                <c:pt idx="29">
                  <c:v>497</c:v>
                </c:pt>
                <c:pt idx="30">
                  <c:v>461</c:v>
                </c:pt>
                <c:pt idx="31">
                  <c:v>491</c:v>
                </c:pt>
                <c:pt idx="32">
                  <c:v>587</c:v>
                </c:pt>
                <c:pt idx="33">
                  <c:v>490</c:v>
                </c:pt>
                <c:pt idx="34">
                  <c:v>416</c:v>
                </c:pt>
                <c:pt idx="35">
                  <c:v>613</c:v>
                </c:pt>
                <c:pt idx="36">
                  <c:v>485</c:v>
                </c:pt>
                <c:pt idx="37">
                  <c:v>539</c:v>
                </c:pt>
                <c:pt idx="38">
                  <c:v>622</c:v>
                </c:pt>
                <c:pt idx="39">
                  <c:v>509</c:v>
                </c:pt>
                <c:pt idx="40">
                  <c:v>434</c:v>
                </c:pt>
                <c:pt idx="41">
                  <c:v>549</c:v>
                </c:pt>
                <c:pt idx="42">
                  <c:v>446</c:v>
                </c:pt>
                <c:pt idx="43">
                  <c:v>447</c:v>
                </c:pt>
                <c:pt idx="44">
                  <c:v>532</c:v>
                </c:pt>
                <c:pt idx="45">
                  <c:v>515</c:v>
                </c:pt>
                <c:pt idx="46">
                  <c:v>629</c:v>
                </c:pt>
                <c:pt idx="47">
                  <c:v>494</c:v>
                </c:pt>
                <c:pt idx="48">
                  <c:v>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54-4BDD-B4F5-8B7FBCA17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8104975"/>
        <c:axId val="1432479999"/>
      </c:lineChart>
      <c:dateAx>
        <c:axId val="748104975"/>
        <c:scaling>
          <c:orientation val="minMax"/>
        </c:scaling>
        <c:delete val="0"/>
        <c:axPos val="b"/>
        <c:numFmt formatCode="mmm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479999"/>
        <c:crosses val="autoZero"/>
        <c:auto val="1"/>
        <c:lblOffset val="100"/>
        <c:baseTimeUnit val="months"/>
      </c:dateAx>
      <c:valAx>
        <c:axId val="1432479999"/>
        <c:scaling>
          <c:orientation val="minMax"/>
          <c:min val="2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8104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L &amp; T - 07063-51210I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3.9045022210126713E-2"/>
                  <c:y val="0.2813665593551579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numRef>
              <c:f>Regression!$A$2:$A$50</c:f>
              <c:numCache>
                <c:formatCode>mmm/yyyy</c:formatCode>
                <c:ptCount val="49"/>
                <c:pt idx="0">
                  <c:v>39904</c:v>
                </c:pt>
                <c:pt idx="1">
                  <c:v>39934</c:v>
                </c:pt>
                <c:pt idx="2">
                  <c:v>39965</c:v>
                </c:pt>
                <c:pt idx="3">
                  <c:v>39995</c:v>
                </c:pt>
                <c:pt idx="4">
                  <c:v>40026</c:v>
                </c:pt>
                <c:pt idx="5">
                  <c:v>40057</c:v>
                </c:pt>
                <c:pt idx="6">
                  <c:v>40087</c:v>
                </c:pt>
                <c:pt idx="7">
                  <c:v>40118</c:v>
                </c:pt>
                <c:pt idx="8">
                  <c:v>40148</c:v>
                </c:pt>
                <c:pt idx="9">
                  <c:v>40179</c:v>
                </c:pt>
                <c:pt idx="10">
                  <c:v>40210</c:v>
                </c:pt>
                <c:pt idx="11">
                  <c:v>40238</c:v>
                </c:pt>
                <c:pt idx="12">
                  <c:v>40269</c:v>
                </c:pt>
                <c:pt idx="13">
                  <c:v>40299</c:v>
                </c:pt>
                <c:pt idx="14">
                  <c:v>40330</c:v>
                </c:pt>
                <c:pt idx="15">
                  <c:v>40360</c:v>
                </c:pt>
                <c:pt idx="16">
                  <c:v>40391</c:v>
                </c:pt>
                <c:pt idx="17">
                  <c:v>40422</c:v>
                </c:pt>
                <c:pt idx="18">
                  <c:v>40452</c:v>
                </c:pt>
                <c:pt idx="19">
                  <c:v>40483</c:v>
                </c:pt>
                <c:pt idx="20">
                  <c:v>40513</c:v>
                </c:pt>
                <c:pt idx="21">
                  <c:v>40544</c:v>
                </c:pt>
                <c:pt idx="22">
                  <c:v>40575</c:v>
                </c:pt>
                <c:pt idx="23">
                  <c:v>40603</c:v>
                </c:pt>
                <c:pt idx="24">
                  <c:v>40634</c:v>
                </c:pt>
                <c:pt idx="25">
                  <c:v>40664</c:v>
                </c:pt>
                <c:pt idx="26">
                  <c:v>40695</c:v>
                </c:pt>
                <c:pt idx="27">
                  <c:v>40725</c:v>
                </c:pt>
                <c:pt idx="28">
                  <c:v>40756</c:v>
                </c:pt>
                <c:pt idx="29">
                  <c:v>40787</c:v>
                </c:pt>
                <c:pt idx="30">
                  <c:v>40817</c:v>
                </c:pt>
                <c:pt idx="31">
                  <c:v>40848</c:v>
                </c:pt>
                <c:pt idx="32">
                  <c:v>40878</c:v>
                </c:pt>
                <c:pt idx="33">
                  <c:v>40909</c:v>
                </c:pt>
                <c:pt idx="34">
                  <c:v>40940</c:v>
                </c:pt>
                <c:pt idx="35">
                  <c:v>40969</c:v>
                </c:pt>
                <c:pt idx="36">
                  <c:v>41000</c:v>
                </c:pt>
                <c:pt idx="37">
                  <c:v>41030</c:v>
                </c:pt>
                <c:pt idx="38">
                  <c:v>41061</c:v>
                </c:pt>
                <c:pt idx="39">
                  <c:v>41091</c:v>
                </c:pt>
                <c:pt idx="40">
                  <c:v>41122</c:v>
                </c:pt>
                <c:pt idx="41">
                  <c:v>41153</c:v>
                </c:pt>
                <c:pt idx="42">
                  <c:v>41183</c:v>
                </c:pt>
                <c:pt idx="43">
                  <c:v>41214</c:v>
                </c:pt>
                <c:pt idx="44">
                  <c:v>41244</c:v>
                </c:pt>
                <c:pt idx="45">
                  <c:v>41275</c:v>
                </c:pt>
                <c:pt idx="46">
                  <c:v>41306</c:v>
                </c:pt>
                <c:pt idx="47">
                  <c:v>41334</c:v>
                </c:pt>
                <c:pt idx="48">
                  <c:v>41365</c:v>
                </c:pt>
              </c:numCache>
            </c:numRef>
          </c:cat>
          <c:val>
            <c:numRef>
              <c:f>Regression!$B$2:$B$50</c:f>
              <c:numCache>
                <c:formatCode>General</c:formatCode>
                <c:ptCount val="49"/>
                <c:pt idx="0">
                  <c:v>435</c:v>
                </c:pt>
                <c:pt idx="1">
                  <c:v>349</c:v>
                </c:pt>
                <c:pt idx="2">
                  <c:v>339</c:v>
                </c:pt>
                <c:pt idx="3">
                  <c:v>338</c:v>
                </c:pt>
                <c:pt idx="4">
                  <c:v>389</c:v>
                </c:pt>
                <c:pt idx="5">
                  <c:v>294</c:v>
                </c:pt>
                <c:pt idx="6">
                  <c:v>322</c:v>
                </c:pt>
                <c:pt idx="7">
                  <c:v>407</c:v>
                </c:pt>
                <c:pt idx="8">
                  <c:v>432</c:v>
                </c:pt>
                <c:pt idx="9">
                  <c:v>387</c:v>
                </c:pt>
                <c:pt idx="10">
                  <c:v>438</c:v>
                </c:pt>
                <c:pt idx="11">
                  <c:v>577</c:v>
                </c:pt>
                <c:pt idx="12">
                  <c:v>334</c:v>
                </c:pt>
                <c:pt idx="13">
                  <c:v>458</c:v>
                </c:pt>
                <c:pt idx="14">
                  <c:v>416</c:v>
                </c:pt>
                <c:pt idx="15">
                  <c:v>326</c:v>
                </c:pt>
                <c:pt idx="16">
                  <c:v>373</c:v>
                </c:pt>
                <c:pt idx="17">
                  <c:v>460</c:v>
                </c:pt>
                <c:pt idx="18">
                  <c:v>344</c:v>
                </c:pt>
                <c:pt idx="19">
                  <c:v>465</c:v>
                </c:pt>
                <c:pt idx="20">
                  <c:v>484</c:v>
                </c:pt>
                <c:pt idx="21">
                  <c:v>527</c:v>
                </c:pt>
                <c:pt idx="22">
                  <c:v>421</c:v>
                </c:pt>
                <c:pt idx="23">
                  <c:v>567</c:v>
                </c:pt>
                <c:pt idx="24">
                  <c:v>437</c:v>
                </c:pt>
                <c:pt idx="25">
                  <c:v>461</c:v>
                </c:pt>
                <c:pt idx="26">
                  <c:v>595</c:v>
                </c:pt>
                <c:pt idx="27">
                  <c:v>540</c:v>
                </c:pt>
                <c:pt idx="28">
                  <c:v>541</c:v>
                </c:pt>
                <c:pt idx="29">
                  <c:v>497</c:v>
                </c:pt>
                <c:pt idx="30">
                  <c:v>461</c:v>
                </c:pt>
                <c:pt idx="31">
                  <c:v>491</c:v>
                </c:pt>
                <c:pt idx="32">
                  <c:v>587</c:v>
                </c:pt>
                <c:pt idx="33">
                  <c:v>490</c:v>
                </c:pt>
                <c:pt idx="34">
                  <c:v>416</c:v>
                </c:pt>
                <c:pt idx="35">
                  <c:v>613</c:v>
                </c:pt>
                <c:pt idx="36">
                  <c:v>485</c:v>
                </c:pt>
                <c:pt idx="37">
                  <c:v>539</c:v>
                </c:pt>
                <c:pt idx="38">
                  <c:v>622</c:v>
                </c:pt>
                <c:pt idx="39">
                  <c:v>509</c:v>
                </c:pt>
                <c:pt idx="40">
                  <c:v>434</c:v>
                </c:pt>
                <c:pt idx="41">
                  <c:v>549</c:v>
                </c:pt>
                <c:pt idx="42">
                  <c:v>446</c:v>
                </c:pt>
                <c:pt idx="43">
                  <c:v>447</c:v>
                </c:pt>
                <c:pt idx="44">
                  <c:v>532</c:v>
                </c:pt>
                <c:pt idx="45">
                  <c:v>515</c:v>
                </c:pt>
                <c:pt idx="46">
                  <c:v>629</c:v>
                </c:pt>
                <c:pt idx="47">
                  <c:v>494</c:v>
                </c:pt>
                <c:pt idx="48">
                  <c:v>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CC-4A43-9067-8EAECAAA7317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Regression!$Q$2:$Q$50</c:f>
              <c:numCache>
                <c:formatCode>General</c:formatCode>
                <c:ptCount val="49"/>
                <c:pt idx="0">
                  <c:v>356.33495145631065</c:v>
                </c:pt>
                <c:pt idx="1">
                  <c:v>383.52912621359229</c:v>
                </c:pt>
                <c:pt idx="2">
                  <c:v>424.77912621359241</c:v>
                </c:pt>
                <c:pt idx="3">
                  <c:v>360.02912621359235</c:v>
                </c:pt>
                <c:pt idx="4">
                  <c:v>366.02912621359229</c:v>
                </c:pt>
                <c:pt idx="5">
                  <c:v>381.77912621359224</c:v>
                </c:pt>
                <c:pt idx="6">
                  <c:v>325.02912621359235</c:v>
                </c:pt>
                <c:pt idx="7">
                  <c:v>384.27912621359229</c:v>
                </c:pt>
                <c:pt idx="8">
                  <c:v>440.52912621359235</c:v>
                </c:pt>
                <c:pt idx="9">
                  <c:v>411.52912621359235</c:v>
                </c:pt>
                <c:pt idx="10">
                  <c:v>407.77912621359224</c:v>
                </c:pt>
                <c:pt idx="11">
                  <c:v>494.52912621359212</c:v>
                </c:pt>
                <c:pt idx="12">
                  <c:v>401.81553398058247</c:v>
                </c:pt>
                <c:pt idx="13">
                  <c:v>429.00970873786412</c:v>
                </c:pt>
                <c:pt idx="14">
                  <c:v>470.25970873786423</c:v>
                </c:pt>
                <c:pt idx="15">
                  <c:v>405.50970873786417</c:v>
                </c:pt>
                <c:pt idx="16">
                  <c:v>411.50970873786412</c:v>
                </c:pt>
                <c:pt idx="17">
                  <c:v>427.25970873786412</c:v>
                </c:pt>
                <c:pt idx="18">
                  <c:v>370.50970873786417</c:v>
                </c:pt>
                <c:pt idx="19">
                  <c:v>429.75970873786412</c:v>
                </c:pt>
                <c:pt idx="20">
                  <c:v>486.00970873786423</c:v>
                </c:pt>
                <c:pt idx="21">
                  <c:v>457.00970873786412</c:v>
                </c:pt>
                <c:pt idx="22">
                  <c:v>453.25970873786412</c:v>
                </c:pt>
                <c:pt idx="23">
                  <c:v>540.009708737864</c:v>
                </c:pt>
                <c:pt idx="24">
                  <c:v>447.29611650485435</c:v>
                </c:pt>
                <c:pt idx="25">
                  <c:v>474.490291262136</c:v>
                </c:pt>
                <c:pt idx="26">
                  <c:v>515.74029126213611</c:v>
                </c:pt>
                <c:pt idx="27">
                  <c:v>450.990291262136</c:v>
                </c:pt>
                <c:pt idx="28">
                  <c:v>456.990291262136</c:v>
                </c:pt>
                <c:pt idx="29">
                  <c:v>472.74029126213594</c:v>
                </c:pt>
                <c:pt idx="30">
                  <c:v>415.990291262136</c:v>
                </c:pt>
                <c:pt idx="31">
                  <c:v>475.240291262136</c:v>
                </c:pt>
                <c:pt idx="32">
                  <c:v>531.490291262136</c:v>
                </c:pt>
                <c:pt idx="33">
                  <c:v>502.490291262136</c:v>
                </c:pt>
                <c:pt idx="34">
                  <c:v>498.740291262136</c:v>
                </c:pt>
                <c:pt idx="35">
                  <c:v>585.49029126213577</c:v>
                </c:pt>
                <c:pt idx="36">
                  <c:v>492.77669902912618</c:v>
                </c:pt>
                <c:pt idx="37">
                  <c:v>519.97087378640776</c:v>
                </c:pt>
                <c:pt idx="38">
                  <c:v>561.22087378640799</c:v>
                </c:pt>
                <c:pt idx="39">
                  <c:v>496.47087378640788</c:v>
                </c:pt>
                <c:pt idx="40">
                  <c:v>502.47087378640782</c:v>
                </c:pt>
                <c:pt idx="41">
                  <c:v>518.22087378640776</c:v>
                </c:pt>
                <c:pt idx="42">
                  <c:v>461.47087378640788</c:v>
                </c:pt>
                <c:pt idx="43">
                  <c:v>520.72087378640776</c:v>
                </c:pt>
                <c:pt idx="44">
                  <c:v>576.97087378640788</c:v>
                </c:pt>
                <c:pt idx="45">
                  <c:v>547.97087378640776</c:v>
                </c:pt>
                <c:pt idx="46">
                  <c:v>544.22087378640776</c:v>
                </c:pt>
                <c:pt idx="47">
                  <c:v>630.97087378640765</c:v>
                </c:pt>
                <c:pt idx="48">
                  <c:v>492.77669902912618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CC-4A43-9067-8EAECAAA7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8104975"/>
        <c:axId val="1432479999"/>
      </c:lineChart>
      <c:dateAx>
        <c:axId val="748104975"/>
        <c:scaling>
          <c:orientation val="minMax"/>
        </c:scaling>
        <c:delete val="0"/>
        <c:axPos val="b"/>
        <c:numFmt formatCode="mmm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479999"/>
        <c:crosses val="autoZero"/>
        <c:auto val="1"/>
        <c:lblOffset val="100"/>
        <c:baseTimeUnit val="months"/>
      </c:dateAx>
      <c:valAx>
        <c:axId val="1432479999"/>
        <c:scaling>
          <c:orientation val="minMax"/>
          <c:min val="2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8104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470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974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85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93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19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98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46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7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66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56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0306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261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9594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920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557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301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6D4D-8F29-4EFC-8FAF-5EB0A2C93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28600"/>
            <a:ext cx="10363200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B82C60F-DC6A-45E6-93DB-ACFE72D381A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06400" y="1524000"/>
            <a:ext cx="11074400" cy="4572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A4447-4FB4-4979-87CA-1366242AE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47200" y="6400800"/>
            <a:ext cx="2844800" cy="457200"/>
          </a:xfrm>
        </p:spPr>
        <p:txBody>
          <a:bodyPr/>
          <a:lstStyle>
            <a:lvl3pPr lvl="2">
              <a:defRPr/>
            </a:lvl3pPr>
          </a:lstStyle>
          <a:p>
            <a:pPr lvl="2"/>
            <a:fld id="{55276B65-ECBE-4E39-A582-5B3F63E320D6}" type="slidenum">
              <a:rPr lang="en-US" altLang="en-US"/>
              <a:pPr lvl="2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153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136" y="355600"/>
            <a:ext cx="9144000" cy="1188720"/>
          </a:xfrm>
        </p:spPr>
        <p:txBody>
          <a:bodyPr>
            <a:normAutofit/>
          </a:bodyPr>
          <a:lstStyle>
            <a:lvl1pPr>
              <a:defRPr sz="3600">
                <a:solidFill>
                  <a:srgbClr val="46603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36" y="1665288"/>
            <a:ext cx="9144000" cy="219456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800"/>
            </a:lvl1pPr>
            <a:lvl2pPr marL="457200" indent="-347472">
              <a:spcBef>
                <a:spcPts val="1200"/>
              </a:spcBef>
              <a:spcAft>
                <a:spcPts val="1200"/>
              </a:spcAft>
              <a:buClr>
                <a:srgbClr val="466032"/>
              </a:buClr>
              <a:buSzPct val="100000"/>
              <a:buFont typeface="Arial" panose="020B0604020202020204" pitchFamily="34" charset="0"/>
              <a:buChar char="•"/>
              <a:defRPr sz="2400"/>
            </a:lvl2pPr>
            <a:lvl3pPr marL="822960" indent="-274320">
              <a:spcBef>
                <a:spcPts val="1200"/>
              </a:spcBef>
              <a:spcAft>
                <a:spcPts val="1200"/>
              </a:spcAft>
              <a:buClr>
                <a:srgbClr val="B60000"/>
              </a:buClr>
              <a:buSzPct val="100000"/>
              <a:buFont typeface="Arial" panose="020B0604020202020204" pitchFamily="34" charset="0"/>
              <a:buChar char="•"/>
              <a:defRPr sz="2200"/>
            </a:lvl3pPr>
            <a:lvl4pPr marL="1188720" indent="-274320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  <a:defRPr sz="2000"/>
            </a:lvl4pPr>
            <a:lvl5pPr marL="1554480" indent="-228600">
              <a:spcBef>
                <a:spcPts val="1200"/>
              </a:spcBef>
              <a:spcAft>
                <a:spcPts val="1200"/>
              </a:spcAft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3" name="Content Placeholder 2"/>
          <p:cNvSpPr>
            <a:spLocks noGrp="1"/>
          </p:cNvSpPr>
          <p:nvPr>
            <p:ph idx="10"/>
          </p:nvPr>
        </p:nvSpPr>
        <p:spPr>
          <a:xfrm>
            <a:off x="624136" y="4006532"/>
            <a:ext cx="9144000" cy="219456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800"/>
            </a:lvl1pPr>
            <a:lvl2pPr marL="457200" indent="-347472">
              <a:spcBef>
                <a:spcPts val="1200"/>
              </a:spcBef>
              <a:spcAft>
                <a:spcPts val="1200"/>
              </a:spcAft>
              <a:buClr>
                <a:srgbClr val="466032"/>
              </a:buClr>
              <a:buSzPct val="100000"/>
              <a:buFont typeface="Arial" panose="020B0604020202020204" pitchFamily="34" charset="0"/>
              <a:buChar char="•"/>
              <a:defRPr sz="2400"/>
            </a:lvl2pPr>
            <a:lvl3pPr marL="822960" indent="-274320">
              <a:spcBef>
                <a:spcPts val="1200"/>
              </a:spcBef>
              <a:spcAft>
                <a:spcPts val="1200"/>
              </a:spcAft>
              <a:buClr>
                <a:srgbClr val="B60000"/>
              </a:buClr>
              <a:buSzPct val="100000"/>
              <a:buFont typeface="Arial" panose="020B0604020202020204" pitchFamily="34" charset="0"/>
              <a:buChar char="•"/>
              <a:defRPr sz="2200"/>
            </a:lvl3pPr>
            <a:lvl4pPr marL="1188720" indent="-274320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  <a:defRPr sz="2000"/>
            </a:lvl4pPr>
            <a:lvl5pPr marL="1554480" indent="-228600">
              <a:spcBef>
                <a:spcPts val="1200"/>
              </a:spcBef>
              <a:spcAft>
                <a:spcPts val="1200"/>
              </a:spcAft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624136" y="6400801"/>
            <a:ext cx="822960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404040"/>
                </a:solidFill>
              </a:rPr>
              <a:t>©2019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2415777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136" y="355600"/>
            <a:ext cx="9144000" cy="1188720"/>
          </a:xfrm>
        </p:spPr>
        <p:txBody>
          <a:bodyPr>
            <a:normAutofit/>
          </a:bodyPr>
          <a:lstStyle>
            <a:lvl1pPr>
              <a:defRPr sz="3600">
                <a:solidFill>
                  <a:srgbClr val="46603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36" y="1665288"/>
            <a:ext cx="9144000" cy="137160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800"/>
            </a:lvl1pPr>
            <a:lvl2pPr marL="457200" indent="-347472">
              <a:spcBef>
                <a:spcPts val="1200"/>
              </a:spcBef>
              <a:spcAft>
                <a:spcPts val="1200"/>
              </a:spcAft>
              <a:buClr>
                <a:srgbClr val="466032"/>
              </a:buClr>
              <a:buSzPct val="100000"/>
              <a:buFont typeface="Arial" panose="020B0604020202020204" pitchFamily="34" charset="0"/>
              <a:buChar char="•"/>
              <a:defRPr sz="2400"/>
            </a:lvl2pPr>
            <a:lvl3pPr marL="822960" indent="-274320">
              <a:spcBef>
                <a:spcPts val="1200"/>
              </a:spcBef>
              <a:spcAft>
                <a:spcPts val="1200"/>
              </a:spcAft>
              <a:buClr>
                <a:srgbClr val="B60000"/>
              </a:buClr>
              <a:buSzPct val="100000"/>
              <a:buFont typeface="Arial" panose="020B0604020202020204" pitchFamily="34" charset="0"/>
              <a:buChar char="•"/>
              <a:defRPr sz="2200"/>
            </a:lvl3pPr>
            <a:lvl4pPr marL="1188720" indent="-274320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  <a:defRPr sz="2000"/>
            </a:lvl4pPr>
            <a:lvl5pPr marL="1554480" indent="-228600">
              <a:spcBef>
                <a:spcPts val="1200"/>
              </a:spcBef>
              <a:spcAft>
                <a:spcPts val="1200"/>
              </a:spcAft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3" name="Content Placeholder 2"/>
          <p:cNvSpPr>
            <a:spLocks noGrp="1"/>
          </p:cNvSpPr>
          <p:nvPr>
            <p:ph idx="10"/>
          </p:nvPr>
        </p:nvSpPr>
        <p:spPr>
          <a:xfrm>
            <a:off x="624136" y="3231833"/>
            <a:ext cx="9144000" cy="137160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800"/>
            </a:lvl1pPr>
            <a:lvl2pPr marL="457200" indent="-347472">
              <a:spcBef>
                <a:spcPts val="1200"/>
              </a:spcBef>
              <a:spcAft>
                <a:spcPts val="1200"/>
              </a:spcAft>
              <a:buClr>
                <a:srgbClr val="466032"/>
              </a:buClr>
              <a:buSzPct val="100000"/>
              <a:buFont typeface="Arial" panose="020B0604020202020204" pitchFamily="34" charset="0"/>
              <a:buChar char="•"/>
              <a:defRPr sz="2400"/>
            </a:lvl2pPr>
            <a:lvl3pPr marL="822960" indent="-274320">
              <a:spcBef>
                <a:spcPts val="1200"/>
              </a:spcBef>
              <a:spcAft>
                <a:spcPts val="1200"/>
              </a:spcAft>
              <a:buClr>
                <a:srgbClr val="B60000"/>
              </a:buClr>
              <a:buSzPct val="100000"/>
              <a:buFont typeface="Arial" panose="020B0604020202020204" pitchFamily="34" charset="0"/>
              <a:buChar char="•"/>
              <a:defRPr sz="2200"/>
            </a:lvl3pPr>
            <a:lvl4pPr marL="1188720" indent="-274320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  <a:defRPr sz="2000"/>
            </a:lvl4pPr>
            <a:lvl5pPr marL="1554480" indent="-228600">
              <a:spcBef>
                <a:spcPts val="1200"/>
              </a:spcBef>
              <a:spcAft>
                <a:spcPts val="1200"/>
              </a:spcAft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1"/>
          </p:nvPr>
        </p:nvSpPr>
        <p:spPr>
          <a:xfrm>
            <a:off x="624136" y="4844733"/>
            <a:ext cx="9144000" cy="137160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800"/>
            </a:lvl1pPr>
            <a:lvl2pPr marL="457200" indent="-347472">
              <a:spcBef>
                <a:spcPts val="1200"/>
              </a:spcBef>
              <a:spcAft>
                <a:spcPts val="1200"/>
              </a:spcAft>
              <a:buClr>
                <a:srgbClr val="466032"/>
              </a:buClr>
              <a:buSzPct val="100000"/>
              <a:buFont typeface="Arial" panose="020B0604020202020204" pitchFamily="34" charset="0"/>
              <a:buChar char="•"/>
              <a:defRPr sz="2400"/>
            </a:lvl2pPr>
            <a:lvl3pPr marL="822960" indent="-274320">
              <a:spcBef>
                <a:spcPts val="1200"/>
              </a:spcBef>
              <a:spcAft>
                <a:spcPts val="1200"/>
              </a:spcAft>
              <a:buClr>
                <a:srgbClr val="B60000"/>
              </a:buClr>
              <a:buSzPct val="100000"/>
              <a:buFont typeface="Arial" panose="020B0604020202020204" pitchFamily="34" charset="0"/>
              <a:buChar char="•"/>
              <a:defRPr sz="2200"/>
            </a:lvl3pPr>
            <a:lvl4pPr marL="1188720" indent="-274320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  <a:defRPr sz="2000"/>
            </a:lvl4pPr>
            <a:lvl5pPr marL="1554480" indent="-228600">
              <a:spcBef>
                <a:spcPts val="1200"/>
              </a:spcBef>
              <a:spcAft>
                <a:spcPts val="1200"/>
              </a:spcAft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624136" y="6400801"/>
            <a:ext cx="822960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404040"/>
                </a:solidFill>
              </a:rPr>
              <a:t>©2019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5127209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136" y="355600"/>
            <a:ext cx="9144000" cy="1188720"/>
          </a:xfrm>
        </p:spPr>
        <p:txBody>
          <a:bodyPr>
            <a:normAutofit/>
          </a:bodyPr>
          <a:lstStyle>
            <a:lvl1pPr>
              <a:defRPr sz="3600">
                <a:solidFill>
                  <a:srgbClr val="46603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36" y="1665288"/>
            <a:ext cx="9144000" cy="109728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800"/>
            </a:lvl1pPr>
            <a:lvl2pPr marL="457200" indent="-347472">
              <a:spcBef>
                <a:spcPts val="1200"/>
              </a:spcBef>
              <a:spcAft>
                <a:spcPts val="1200"/>
              </a:spcAft>
              <a:buClr>
                <a:srgbClr val="466032"/>
              </a:buClr>
              <a:buSzPct val="100000"/>
              <a:buFont typeface="Arial" panose="020B0604020202020204" pitchFamily="34" charset="0"/>
              <a:buChar char="•"/>
              <a:defRPr sz="2400"/>
            </a:lvl2pPr>
            <a:lvl3pPr marL="822960" indent="-274320">
              <a:spcBef>
                <a:spcPts val="1200"/>
              </a:spcBef>
              <a:spcAft>
                <a:spcPts val="1200"/>
              </a:spcAft>
              <a:buClr>
                <a:srgbClr val="B60000"/>
              </a:buClr>
              <a:buSzPct val="100000"/>
              <a:buFont typeface="Arial" panose="020B0604020202020204" pitchFamily="34" charset="0"/>
              <a:buChar char="•"/>
              <a:defRPr sz="2200"/>
            </a:lvl3pPr>
            <a:lvl4pPr marL="1188720" indent="-274320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  <a:defRPr sz="2000"/>
            </a:lvl4pPr>
            <a:lvl5pPr marL="1554480" indent="-228600">
              <a:spcBef>
                <a:spcPts val="1200"/>
              </a:spcBef>
              <a:spcAft>
                <a:spcPts val="1200"/>
              </a:spcAft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3" name="Content Placeholder 2"/>
          <p:cNvSpPr>
            <a:spLocks noGrp="1"/>
          </p:cNvSpPr>
          <p:nvPr>
            <p:ph idx="10"/>
          </p:nvPr>
        </p:nvSpPr>
        <p:spPr>
          <a:xfrm>
            <a:off x="624136" y="2863533"/>
            <a:ext cx="9144000" cy="109728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800"/>
            </a:lvl1pPr>
            <a:lvl2pPr marL="457200" indent="-347472">
              <a:spcBef>
                <a:spcPts val="1200"/>
              </a:spcBef>
              <a:spcAft>
                <a:spcPts val="1200"/>
              </a:spcAft>
              <a:buClr>
                <a:srgbClr val="466032"/>
              </a:buClr>
              <a:buSzPct val="100000"/>
              <a:buFont typeface="Arial" panose="020B0604020202020204" pitchFamily="34" charset="0"/>
              <a:buChar char="•"/>
              <a:defRPr sz="2400"/>
            </a:lvl2pPr>
            <a:lvl3pPr marL="822960" indent="-274320">
              <a:spcBef>
                <a:spcPts val="1200"/>
              </a:spcBef>
              <a:spcAft>
                <a:spcPts val="1200"/>
              </a:spcAft>
              <a:buClr>
                <a:srgbClr val="B60000"/>
              </a:buClr>
              <a:buSzPct val="100000"/>
              <a:buFont typeface="Arial" panose="020B0604020202020204" pitchFamily="34" charset="0"/>
              <a:buChar char="•"/>
              <a:defRPr sz="2200"/>
            </a:lvl3pPr>
            <a:lvl4pPr marL="1188720" indent="-274320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  <a:defRPr sz="2000"/>
            </a:lvl4pPr>
            <a:lvl5pPr marL="1554480" indent="-228600">
              <a:spcBef>
                <a:spcPts val="1200"/>
              </a:spcBef>
              <a:spcAft>
                <a:spcPts val="1200"/>
              </a:spcAft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1"/>
          </p:nvPr>
        </p:nvSpPr>
        <p:spPr>
          <a:xfrm>
            <a:off x="624136" y="4057333"/>
            <a:ext cx="9144000" cy="109728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800"/>
            </a:lvl1pPr>
            <a:lvl2pPr marL="457200" indent="-347472">
              <a:spcBef>
                <a:spcPts val="1200"/>
              </a:spcBef>
              <a:spcAft>
                <a:spcPts val="1200"/>
              </a:spcAft>
              <a:buClr>
                <a:srgbClr val="466032"/>
              </a:buClr>
              <a:buSzPct val="100000"/>
              <a:buFont typeface="Arial" panose="020B0604020202020204" pitchFamily="34" charset="0"/>
              <a:buChar char="•"/>
              <a:defRPr sz="2400"/>
            </a:lvl2pPr>
            <a:lvl3pPr marL="822960" indent="-274320">
              <a:spcBef>
                <a:spcPts val="1200"/>
              </a:spcBef>
              <a:spcAft>
                <a:spcPts val="1200"/>
              </a:spcAft>
              <a:buClr>
                <a:srgbClr val="B60000"/>
              </a:buClr>
              <a:buSzPct val="100000"/>
              <a:buFont typeface="Arial" panose="020B0604020202020204" pitchFamily="34" charset="0"/>
              <a:buChar char="•"/>
              <a:defRPr sz="2200"/>
            </a:lvl3pPr>
            <a:lvl4pPr marL="1188720" indent="-274320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  <a:defRPr sz="2000"/>
            </a:lvl4pPr>
            <a:lvl5pPr marL="1554480" indent="-228600">
              <a:spcBef>
                <a:spcPts val="1200"/>
              </a:spcBef>
              <a:spcAft>
                <a:spcPts val="1200"/>
              </a:spcAft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2"/>
          </p:nvPr>
        </p:nvSpPr>
        <p:spPr>
          <a:xfrm>
            <a:off x="624136" y="5223933"/>
            <a:ext cx="9144000" cy="109728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800"/>
            </a:lvl1pPr>
            <a:lvl2pPr marL="457200" indent="-347472">
              <a:spcBef>
                <a:spcPts val="1200"/>
              </a:spcBef>
              <a:spcAft>
                <a:spcPts val="1200"/>
              </a:spcAft>
              <a:buClr>
                <a:srgbClr val="466032"/>
              </a:buClr>
              <a:buSzPct val="100000"/>
              <a:buFont typeface="Arial" panose="020B0604020202020204" pitchFamily="34" charset="0"/>
              <a:buChar char="•"/>
              <a:defRPr sz="2400"/>
            </a:lvl2pPr>
            <a:lvl3pPr marL="822960" indent="-274320">
              <a:spcBef>
                <a:spcPts val="1200"/>
              </a:spcBef>
              <a:spcAft>
                <a:spcPts val="1200"/>
              </a:spcAft>
              <a:buClr>
                <a:srgbClr val="B60000"/>
              </a:buClr>
              <a:buSzPct val="100000"/>
              <a:buFont typeface="Arial" panose="020B0604020202020204" pitchFamily="34" charset="0"/>
              <a:buChar char="•"/>
              <a:defRPr sz="2200"/>
            </a:lvl3pPr>
            <a:lvl4pPr marL="1188720" indent="-274320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  <a:defRPr sz="2000"/>
            </a:lvl4pPr>
            <a:lvl5pPr marL="1554480" indent="-228600">
              <a:spcBef>
                <a:spcPts val="1200"/>
              </a:spcBef>
              <a:spcAft>
                <a:spcPts val="1200"/>
              </a:spcAft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624136" y="6400801"/>
            <a:ext cx="822960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404040"/>
                </a:solidFill>
              </a:rPr>
              <a:t>©2019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3967402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28600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868488"/>
            <a:ext cx="5283200" cy="453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604000" y="1868488"/>
            <a:ext cx="52832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604000" y="4210050"/>
            <a:ext cx="5283200" cy="2190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5891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2A882-9AB2-4163-A5A9-31B5EED03183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7A76D42-2FDE-4C89-950C-24DDBDC16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5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agadev@iimb.ac.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B929-5C2F-4639-B48D-E2D31FDD4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8257" y="2514600"/>
            <a:ext cx="9456356" cy="2262781"/>
          </a:xfrm>
        </p:spPr>
        <p:txBody>
          <a:bodyPr/>
          <a:lstStyle/>
          <a:p>
            <a:r>
              <a:rPr lang="en-US" sz="4000" dirty="0"/>
              <a:t>Forecasting </a:t>
            </a:r>
            <a:br>
              <a:rPr lang="en-US" sz="4000" dirty="0"/>
            </a:br>
            <a:r>
              <a:rPr lang="en-US" sz="4000" dirty="0"/>
              <a:t>L and T – Spare Parts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7F36F-B3D0-45CE-A45F-7FC4CB8FE5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Vishnuprasad</a:t>
            </a:r>
            <a:r>
              <a:rPr lang="en-US" dirty="0"/>
              <a:t> Nagadevara</a:t>
            </a:r>
          </a:p>
          <a:p>
            <a:r>
              <a:rPr lang="en-US" dirty="0">
                <a:hlinkClick r:id="rId2"/>
              </a:rPr>
              <a:t>nagadev@iimb.ac.in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00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07FD-C40B-09C1-A6A9-AAD729328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8125" y="175223"/>
            <a:ext cx="8911687" cy="894348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E05ED-3698-AB11-3629-E29C3C547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411" y="1651461"/>
            <a:ext cx="10618124" cy="5098473"/>
          </a:xfrm>
        </p:spPr>
        <p:txBody>
          <a:bodyPr>
            <a:noAutofit/>
          </a:bodyPr>
          <a:lstStyle/>
          <a:p>
            <a:r>
              <a:rPr lang="en-US" sz="2000" dirty="0"/>
              <a:t>L&amp;T has been in the construction and mining business for three decades. </a:t>
            </a:r>
          </a:p>
          <a:p>
            <a:r>
              <a:rPr lang="en-US" sz="2000" dirty="0"/>
              <a:t>It also provides spare parts and after-sales service to customers to improve utilization and helps them to obtain the best possible value. </a:t>
            </a:r>
          </a:p>
          <a:p>
            <a:r>
              <a:rPr lang="en-US" sz="2000" dirty="0"/>
              <a:t>The spare parts business of construction and mining equipment has a profitability of around 30%, while the equipment business has profitability of around 7%. </a:t>
            </a:r>
          </a:p>
          <a:p>
            <a:r>
              <a:rPr lang="en-US" sz="2000" dirty="0"/>
              <a:t>There are over 20,000 different types of spare parts and forecasting the demand of each part is a challenge. </a:t>
            </a:r>
          </a:p>
          <a:p>
            <a:r>
              <a:rPr lang="en-US" sz="2000" dirty="0"/>
              <a:t>Technology changes frequently and superseding parts that have a different material, a different design, or improved quality are developed such that these can replace the previous parts. </a:t>
            </a:r>
          </a:p>
          <a:p>
            <a:r>
              <a:rPr lang="en-US" sz="2000" dirty="0"/>
              <a:t>New machines that are developed require additional spare parts. </a:t>
            </a:r>
          </a:p>
          <a:p>
            <a:r>
              <a:rPr lang="en-US" sz="2000" dirty="0"/>
              <a:t>Demand sometimes is seasonal since most of the customers plan their annual overhaul during the monsoon season, when construction is virtually at a standstill.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6154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4211C-A7AC-25E3-8B08-FA83F1CE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172" y="158597"/>
            <a:ext cx="8911687" cy="872181"/>
          </a:xfrm>
        </p:spPr>
        <p:txBody>
          <a:bodyPr/>
          <a:lstStyle/>
          <a:p>
            <a:r>
              <a:rPr lang="en-US" dirty="0"/>
              <a:t>History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2CB83-D2F7-7E2F-530C-D05C05DB7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407" y="1197033"/>
            <a:ext cx="10789920" cy="5447607"/>
          </a:xfrm>
        </p:spPr>
        <p:txBody>
          <a:bodyPr>
            <a:normAutofit/>
          </a:bodyPr>
          <a:lstStyle/>
          <a:p>
            <a:pPr marL="812800" marR="808990" algn="just">
              <a:lnSpc>
                <a:spcPct val="116000"/>
              </a:lnSpc>
              <a:spcBef>
                <a:spcPts val="475"/>
              </a:spcBef>
              <a:spcAft>
                <a:spcPts val="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L&amp;T was founded in Bombay (Mumbai) in 1938 by two Danish engineers, Henning </a:t>
            </a:r>
            <a:r>
              <a:rPr lang="en-US" sz="180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Holck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-Larsen and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Soren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Kristian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Toubro.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812800" marR="808990" algn="just">
              <a:lnSpc>
                <a:spcPct val="116000"/>
              </a:lnSpc>
              <a:spcBef>
                <a:spcPts val="475"/>
              </a:spcBef>
              <a:spcAft>
                <a:spcPts val="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Started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operations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representing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Danish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dairy</a:t>
            </a:r>
            <a:r>
              <a:rPr lang="en-US" sz="1800" spc="2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equipment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manufacturers and World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War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forced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founders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26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manufacture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equipment indigenously. </a:t>
            </a:r>
          </a:p>
          <a:p>
            <a:pPr marL="812800" marR="808990" algn="just">
              <a:lnSpc>
                <a:spcPct val="116000"/>
              </a:lnSpc>
              <a:spcBef>
                <a:spcPts val="475"/>
              </a:spcBef>
              <a:spcAft>
                <a:spcPts val="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war created opportunities for repairing ships, which led to the formation of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repair and fabrication shops. </a:t>
            </a:r>
          </a:p>
          <a:p>
            <a:pPr marL="812800" marR="808990" algn="just">
              <a:lnSpc>
                <a:spcPct val="116000"/>
              </a:lnSpc>
              <a:spcBef>
                <a:spcPts val="475"/>
              </a:spcBef>
              <a:spcAft>
                <a:spcPts val="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company grew into an engineering major under the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guidance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several</a:t>
            </a:r>
            <a:r>
              <a:rPr lang="en-US" sz="18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eminent</a:t>
            </a:r>
            <a:r>
              <a:rPr lang="en-US" sz="18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leaders.</a:t>
            </a:r>
          </a:p>
          <a:p>
            <a:pPr marL="812800" marR="808990" algn="just">
              <a:lnSpc>
                <a:spcPct val="116000"/>
              </a:lnSpc>
              <a:spcBef>
                <a:spcPts val="475"/>
              </a:spcBef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Has presence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several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businesses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pc="26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infrastructure,</a:t>
            </a:r>
            <a:r>
              <a:rPr lang="en-US" spc="26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defense,</a:t>
            </a:r>
            <a:r>
              <a:rPr lang="en-US" spc="26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aerospace,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hydrocarbons, heavy engineering, construction, power, mining and metallurgy, electrical and automation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products,</a:t>
            </a:r>
            <a:r>
              <a:rPr lang="en-US" spc="220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machinery</a:t>
            </a:r>
            <a:r>
              <a:rPr lang="en-US" spc="210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22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industrial</a:t>
            </a:r>
            <a:r>
              <a:rPr lang="en-US" spc="230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products,</a:t>
            </a:r>
            <a:r>
              <a:rPr lang="en-US" spc="22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information</a:t>
            </a:r>
            <a:r>
              <a:rPr lang="en-US" spc="22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technology,</a:t>
            </a:r>
            <a:r>
              <a:rPr lang="en-US" spc="220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financial</a:t>
            </a:r>
            <a:r>
              <a:rPr lang="en-US" spc="210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services,</a:t>
            </a:r>
            <a:r>
              <a:rPr lang="en-US" spc="22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ship</a:t>
            </a:r>
            <a:r>
              <a:rPr lang="en-US" spc="22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building,</a:t>
            </a:r>
            <a:r>
              <a:rPr lang="en-US" spc="-250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railway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projects</a:t>
            </a:r>
          </a:p>
          <a:p>
            <a:pPr marL="812800" marR="808990" algn="just">
              <a:lnSpc>
                <a:spcPct val="116000"/>
              </a:lnSpc>
              <a:spcBef>
                <a:spcPts val="475"/>
              </a:spcBef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Has 137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subsidiaries and 16 associated companies; </a:t>
            </a:r>
          </a:p>
          <a:p>
            <a:pPr marL="812800" marR="808990" algn="just">
              <a:lnSpc>
                <a:spcPct val="116000"/>
              </a:lnSpc>
              <a:spcBef>
                <a:spcPts val="475"/>
              </a:spcBef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L&amp;T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Group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had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gross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revenues of INR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752</a:t>
            </a:r>
            <a:r>
              <a:rPr lang="en-US" spc="260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billion (USD 13</a:t>
            </a:r>
            <a:r>
              <a:rPr lang="en-US" spc="26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billion) in</a:t>
            </a:r>
            <a:r>
              <a:rPr lang="en-US" spc="260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CY</a:t>
            </a:r>
            <a:r>
              <a:rPr lang="en-US" spc="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2013</a:t>
            </a:r>
            <a:r>
              <a:rPr lang="en-US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22.49 Billion in 2023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77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02231-07EE-7F53-BAF8-D9131E455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7042" y="158598"/>
            <a:ext cx="8911687" cy="1280890"/>
          </a:xfrm>
        </p:spPr>
        <p:txBody>
          <a:bodyPr/>
          <a:lstStyle/>
          <a:p>
            <a:r>
              <a:rPr lang="en-US" dirty="0"/>
              <a:t>Spare Parts at Construction and Mining Business (CMB)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DCB8D-0B89-E5B5-BBC8-961D902C2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960" y="1845425"/>
            <a:ext cx="9919652" cy="4893426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Supply through</a:t>
            </a:r>
            <a:r>
              <a:rPr lang="en-US" sz="24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its</a:t>
            </a:r>
            <a:r>
              <a:rPr lang="en-US" sz="24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central</a:t>
            </a:r>
            <a:r>
              <a:rPr lang="en-US" sz="24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warehouse</a:t>
            </a:r>
            <a:r>
              <a:rPr lang="en-US" sz="24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z="2400" spc="18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Nagpur.</a:t>
            </a:r>
            <a:r>
              <a:rPr lang="en-US" sz="2400" spc="1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 four fully equipped service stations at Chennai, Delhi, Durgapur, and Pune, which catered to the southern,</a:t>
            </a:r>
            <a:r>
              <a:rPr lang="en-US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northern, eastern, and western regions of the country, respectively. </a:t>
            </a:r>
          </a:p>
          <a:p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facility at Nagpur catered to the</a:t>
            </a:r>
            <a:r>
              <a:rPr lang="en-US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central region. </a:t>
            </a:r>
          </a:p>
          <a:p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There were 58 sub-service centers under the fully equipped service centers and 26 dealers who had 84 outlets across the country. </a:t>
            </a:r>
          </a:p>
          <a:p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spare parts of the construction</a:t>
            </a:r>
            <a:r>
              <a:rPr lang="en-US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equipment were generally supplied through the dealers, while the mining equipment spare parts were</a:t>
            </a:r>
            <a:r>
              <a:rPr lang="en-US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supplied</a:t>
            </a:r>
            <a:r>
              <a:rPr lang="en-US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via a</a:t>
            </a:r>
            <a:r>
              <a:rPr lang="en-US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mix</a:t>
            </a:r>
            <a:r>
              <a:rPr lang="en-US" sz="24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4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</a:t>
            </a:r>
            <a:r>
              <a:rPr lang="en-US" sz="24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centers</a:t>
            </a:r>
            <a:r>
              <a:rPr lang="en-US" sz="24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dealer</a:t>
            </a:r>
            <a:r>
              <a:rPr lang="en-US" sz="24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outlets.</a:t>
            </a:r>
          </a:p>
          <a:p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spare parts were classified into six main categories: filters, engine maintenance parts, seals and hoses,</a:t>
            </a:r>
            <a:r>
              <a:rPr lang="en-US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v-belts, undercarriage, and ground engaging tools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60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7E8F-F1D2-32A6-5BB3-5B8F33E16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332" y="236183"/>
            <a:ext cx="8911687" cy="1016268"/>
          </a:xfrm>
        </p:spPr>
        <p:txBody>
          <a:bodyPr/>
          <a:lstStyle/>
          <a:p>
            <a:r>
              <a:rPr lang="en-US" dirty="0"/>
              <a:t>Spare Parts Classification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7F84CA-191C-A97E-5EC0-52826E5098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899887"/>
              </p:ext>
            </p:extLst>
          </p:nvPr>
        </p:nvGraphicFramePr>
        <p:xfrm>
          <a:off x="576469" y="1351722"/>
          <a:ext cx="11423372" cy="5270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235">
                  <a:extLst>
                    <a:ext uri="{9D8B030D-6E8A-4147-A177-3AD203B41FA5}">
                      <a16:colId xmlns:a16="http://schemas.microsoft.com/office/drawing/2014/main" val="3505352767"/>
                    </a:ext>
                  </a:extLst>
                </a:gridCol>
                <a:gridCol w="1782231">
                  <a:extLst>
                    <a:ext uri="{9D8B030D-6E8A-4147-A177-3AD203B41FA5}">
                      <a16:colId xmlns:a16="http://schemas.microsoft.com/office/drawing/2014/main" val="1272316173"/>
                    </a:ext>
                  </a:extLst>
                </a:gridCol>
                <a:gridCol w="2017385">
                  <a:extLst>
                    <a:ext uri="{9D8B030D-6E8A-4147-A177-3AD203B41FA5}">
                      <a16:colId xmlns:a16="http://schemas.microsoft.com/office/drawing/2014/main" val="2821562372"/>
                    </a:ext>
                  </a:extLst>
                </a:gridCol>
                <a:gridCol w="1837924">
                  <a:extLst>
                    <a:ext uri="{9D8B030D-6E8A-4147-A177-3AD203B41FA5}">
                      <a16:colId xmlns:a16="http://schemas.microsoft.com/office/drawing/2014/main" val="3047923358"/>
                    </a:ext>
                  </a:extLst>
                </a:gridCol>
                <a:gridCol w="1868866">
                  <a:extLst>
                    <a:ext uri="{9D8B030D-6E8A-4147-A177-3AD203B41FA5}">
                      <a16:colId xmlns:a16="http://schemas.microsoft.com/office/drawing/2014/main" val="740948433"/>
                    </a:ext>
                  </a:extLst>
                </a:gridCol>
                <a:gridCol w="1608731">
                  <a:extLst>
                    <a:ext uri="{9D8B030D-6E8A-4147-A177-3AD203B41FA5}">
                      <a16:colId xmlns:a16="http://schemas.microsoft.com/office/drawing/2014/main" val="1770652719"/>
                    </a:ext>
                  </a:extLst>
                </a:gridCol>
              </a:tblGrid>
              <a:tr h="9255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Filters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300038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Engine Maintenance Parts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Seals &amp; Hoses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Undercarriage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0001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Ground Engaging Tools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V-Belts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200025" marR="4763" marT="4763" marB="0" anchor="ctr"/>
                </a:tc>
                <a:extLst>
                  <a:ext uri="{0D108BD9-81ED-4DB2-BD59-A6C34878D82A}">
                    <a16:rowId xmlns:a16="http://schemas.microsoft.com/office/drawing/2014/main" val="1754993925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Engine Filters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Gasket Kits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Hydraulic Hoses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Track-Links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Bucket Teeth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V-Belts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2400011"/>
                  </a:ext>
                </a:extLst>
              </a:tr>
              <a:tr h="6188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1000-Hour Filters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Rain Caps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O-Rings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Sprocket Teeth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Cutting Edges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60484756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Fuel Filters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Exhaust Pipe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Oil Seals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Track Shoes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Blades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83814562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Oil Filters</a:t>
                      </a:r>
                      <a:endParaRPr lang="en-IN" sz="1800" b="0" i="0" u="none" strike="noStrike" dirty="0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Mufflers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Fuel Hoses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Rollers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Side Cutters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475611066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Air Cleaner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Cylinder Liners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Dust Seals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Idlers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4640386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Corrosion Resistor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Pistons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Seal Washers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9908463"/>
                  </a:ext>
                </a:extLst>
              </a:tr>
              <a:tr h="6188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Hydraulic Filter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Piston Rings Thermostat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Low Pressure Heads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78760982"/>
                  </a:ext>
                </a:extLst>
              </a:tr>
              <a:tr h="61882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Fuel Water Separators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Water Hoses Hose Clamps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10117928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231F20"/>
                          </a:solidFill>
                          <a:effectLst/>
                          <a:latin typeface="+mj-lt"/>
                        </a:rPr>
                        <a:t>Back-up Rings</a:t>
                      </a:r>
                      <a:endParaRPr lang="en-IN" sz="1800" b="0" i="0" u="none" strike="noStrike">
                        <a:solidFill>
                          <a:srgbClr val="231F2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42598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306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6373-6958-C1D2-B458-FFE82631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583" y="231256"/>
            <a:ext cx="8911687" cy="799522"/>
          </a:xfrm>
        </p:spPr>
        <p:txBody>
          <a:bodyPr/>
          <a:lstStyle/>
          <a:p>
            <a:r>
              <a:rPr lang="en-US" dirty="0"/>
              <a:t>Item Selected: </a:t>
            </a:r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07063-51210I</a:t>
            </a:r>
            <a:endParaRPr lang="en-IN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09D392-3E5D-614C-857F-439916030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994114"/>
              </p:ext>
            </p:extLst>
          </p:nvPr>
        </p:nvGraphicFramePr>
        <p:xfrm>
          <a:off x="1291243" y="1512146"/>
          <a:ext cx="10263448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931">
                  <a:extLst>
                    <a:ext uri="{9D8B030D-6E8A-4147-A177-3AD203B41FA5}">
                      <a16:colId xmlns:a16="http://schemas.microsoft.com/office/drawing/2014/main" val="3382103294"/>
                    </a:ext>
                  </a:extLst>
                </a:gridCol>
                <a:gridCol w="1282931">
                  <a:extLst>
                    <a:ext uri="{9D8B030D-6E8A-4147-A177-3AD203B41FA5}">
                      <a16:colId xmlns:a16="http://schemas.microsoft.com/office/drawing/2014/main" val="2070259447"/>
                    </a:ext>
                  </a:extLst>
                </a:gridCol>
                <a:gridCol w="1282931">
                  <a:extLst>
                    <a:ext uri="{9D8B030D-6E8A-4147-A177-3AD203B41FA5}">
                      <a16:colId xmlns:a16="http://schemas.microsoft.com/office/drawing/2014/main" val="3185616293"/>
                    </a:ext>
                  </a:extLst>
                </a:gridCol>
                <a:gridCol w="1282931">
                  <a:extLst>
                    <a:ext uri="{9D8B030D-6E8A-4147-A177-3AD203B41FA5}">
                      <a16:colId xmlns:a16="http://schemas.microsoft.com/office/drawing/2014/main" val="1394740449"/>
                    </a:ext>
                  </a:extLst>
                </a:gridCol>
                <a:gridCol w="1282931">
                  <a:extLst>
                    <a:ext uri="{9D8B030D-6E8A-4147-A177-3AD203B41FA5}">
                      <a16:colId xmlns:a16="http://schemas.microsoft.com/office/drawing/2014/main" val="3455590090"/>
                    </a:ext>
                  </a:extLst>
                </a:gridCol>
                <a:gridCol w="1282931">
                  <a:extLst>
                    <a:ext uri="{9D8B030D-6E8A-4147-A177-3AD203B41FA5}">
                      <a16:colId xmlns:a16="http://schemas.microsoft.com/office/drawing/2014/main" val="2829052604"/>
                    </a:ext>
                  </a:extLst>
                </a:gridCol>
                <a:gridCol w="1282931">
                  <a:extLst>
                    <a:ext uri="{9D8B030D-6E8A-4147-A177-3AD203B41FA5}">
                      <a16:colId xmlns:a16="http://schemas.microsoft.com/office/drawing/2014/main" val="4273869500"/>
                    </a:ext>
                  </a:extLst>
                </a:gridCol>
                <a:gridCol w="1282931">
                  <a:extLst>
                    <a:ext uri="{9D8B030D-6E8A-4147-A177-3AD203B41FA5}">
                      <a16:colId xmlns:a16="http://schemas.microsoft.com/office/drawing/2014/main" val="2469364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Quantity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Quantity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Quantity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Quantity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1580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8418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58387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66122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509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72608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434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44489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549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6095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446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6738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447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78554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532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488979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Jan-2013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515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77393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Feb-2013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629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9792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Mar-2013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494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54516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Apr-2013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075911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445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F5E3-C6E3-2950-4E7A-6D52B525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349" y="230214"/>
            <a:ext cx="8911687" cy="806106"/>
          </a:xfrm>
        </p:spPr>
        <p:txBody>
          <a:bodyPr/>
          <a:lstStyle/>
          <a:p>
            <a:r>
              <a:rPr lang="en-US" dirty="0"/>
              <a:t>Pattern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616756D-E3E9-FD55-1C27-3A250C3B2E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41761"/>
              </p:ext>
            </p:extLst>
          </p:nvPr>
        </p:nvGraphicFramePr>
        <p:xfrm>
          <a:off x="2417761" y="1329530"/>
          <a:ext cx="9203432" cy="5132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92490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EE41-43AE-11BD-BDE8-C80A9A5B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693" y="233188"/>
            <a:ext cx="8911687" cy="909812"/>
          </a:xfrm>
        </p:spPr>
        <p:txBody>
          <a:bodyPr/>
          <a:lstStyle/>
          <a:p>
            <a:r>
              <a:rPr lang="en-IN" dirty="0"/>
              <a:t>Seasonal Index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04BA43-64D5-A565-49BF-CAF803EA62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514588"/>
              </p:ext>
            </p:extLst>
          </p:nvPr>
        </p:nvGraphicFramePr>
        <p:xfrm>
          <a:off x="2014026" y="1433052"/>
          <a:ext cx="8915396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628">
                  <a:extLst>
                    <a:ext uri="{9D8B030D-6E8A-4147-A177-3AD203B41FA5}">
                      <a16:colId xmlns:a16="http://schemas.microsoft.com/office/drawing/2014/main" val="4236448962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4098711773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2599318271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482345425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3585745135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3595792793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1263987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99615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422.75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91.36%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17539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451.75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97.62%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8138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106.54%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8371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428.25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92.54%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557832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434.25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93.84%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4419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97.24%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235741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393.25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84.98%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209739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452.5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97.78%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57271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508.75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109.94%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68041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479.75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103.67%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9489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102.86%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083246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562.75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121.61%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9658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462.75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81354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467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3FFC-EC49-7BFA-146D-AF3FDE46B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39219"/>
          </a:xfrm>
        </p:spPr>
        <p:txBody>
          <a:bodyPr/>
          <a:lstStyle/>
          <a:p>
            <a:r>
              <a:rPr lang="en-IN" dirty="0"/>
              <a:t>ANOVA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C5B22-4BAD-F5DC-AB89-27FE12BCFF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888444"/>
              </p:ext>
            </p:extLst>
          </p:nvPr>
        </p:nvGraphicFramePr>
        <p:xfrm>
          <a:off x="1408470" y="2553929"/>
          <a:ext cx="1004451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751">
                  <a:extLst>
                    <a:ext uri="{9D8B030D-6E8A-4147-A177-3AD203B41FA5}">
                      <a16:colId xmlns:a16="http://schemas.microsoft.com/office/drawing/2014/main" val="1330628168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4115756021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1860473845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3107960364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1105117572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1514302172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398872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ANOVA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692314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of Variation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SS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P-value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 crit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344896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Between Groups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89268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8115.273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1.118264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0.376069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2.066608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07919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Within Groups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261253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7257.028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11772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80274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350521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891343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323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18D1-E05F-D5B7-31D2-1968B9D2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5957" y="219557"/>
            <a:ext cx="8911687" cy="883265"/>
          </a:xfrm>
        </p:spPr>
        <p:txBody>
          <a:bodyPr/>
          <a:lstStyle/>
          <a:p>
            <a:r>
              <a:rPr lang="en-US" dirty="0"/>
              <a:t>Regression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B2F73CA-A6A8-EBF3-DE07-800C4148AA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8203440"/>
              </p:ext>
            </p:extLst>
          </p:nvPr>
        </p:nvGraphicFramePr>
        <p:xfrm>
          <a:off x="340400" y="1400426"/>
          <a:ext cx="7256318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696">
                  <a:extLst>
                    <a:ext uri="{9D8B030D-6E8A-4147-A177-3AD203B41FA5}">
                      <a16:colId xmlns:a16="http://schemas.microsoft.com/office/drawing/2014/main" val="251606926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4009519273"/>
                    </a:ext>
                  </a:extLst>
                </a:gridCol>
                <a:gridCol w="1729047">
                  <a:extLst>
                    <a:ext uri="{9D8B030D-6E8A-4147-A177-3AD203B41FA5}">
                      <a16:colId xmlns:a16="http://schemas.microsoft.com/office/drawing/2014/main" val="2646861448"/>
                    </a:ext>
                  </a:extLst>
                </a:gridCol>
                <a:gridCol w="1418706">
                  <a:extLst>
                    <a:ext uri="{9D8B030D-6E8A-4147-A177-3AD203B41FA5}">
                      <a16:colId xmlns:a16="http://schemas.microsoft.com/office/drawing/2014/main" val="1864205746"/>
                    </a:ext>
                  </a:extLst>
                </a:gridCol>
                <a:gridCol w="1429789">
                  <a:extLst>
                    <a:ext uri="{9D8B030D-6E8A-4147-A177-3AD203B41FA5}">
                      <a16:colId xmlns:a16="http://schemas.microsoft.com/office/drawing/2014/main" val="1374716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Coefficients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Standard Error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 Stat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P-value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985974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Intercept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310.8544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35.42224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8.775684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1.8E-10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756043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27.19417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0.653241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0.517752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97126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68.44417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1.644122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0.108857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28422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3.694175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0.088739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0.929781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4524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9.694175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0.232867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0.817183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2852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Dummy6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25.44417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0.611204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0.544905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35932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-31.3058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-0.75201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0.456935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551730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27.94417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0.671257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0.506341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66376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84.19417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2.022458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0.050607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31494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Dummy10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55.19417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1.325839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0.193245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24051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Dummy11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51.44417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1.235759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0.224551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896899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138.1942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41.62962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3.319612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0.002072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4452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Trend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45.48058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7.881345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5.770663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1.41E-06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2119006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EA48BF-CE04-660E-8E59-30D4307CF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591450"/>
              </p:ext>
            </p:extLst>
          </p:nvPr>
        </p:nvGraphicFramePr>
        <p:xfrm>
          <a:off x="8678487" y="579683"/>
          <a:ext cx="2959332" cy="19806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766325844"/>
                    </a:ext>
                  </a:extLst>
                </a:gridCol>
                <a:gridCol w="1130532">
                  <a:extLst>
                    <a:ext uri="{9D8B030D-6E8A-4147-A177-3AD203B41FA5}">
                      <a16:colId xmlns:a16="http://schemas.microsoft.com/office/drawing/2014/main" val="2717891341"/>
                    </a:ext>
                  </a:extLst>
                </a:gridCol>
              </a:tblGrid>
              <a:tr h="3301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Regression Statistics</a:t>
                      </a:r>
                      <a:endParaRPr lang="en-IN" sz="16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665820"/>
                  </a:ext>
                </a:extLst>
              </a:tr>
              <a:tr h="33010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Multiple 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0.7793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207270089"/>
                  </a:ext>
                </a:extLst>
              </a:tr>
              <a:tr h="33010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R Square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0.6073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919903326"/>
                  </a:ext>
                </a:extLst>
              </a:tr>
              <a:tr h="33010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Adjusted R Square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0.4764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47927585"/>
                  </a:ext>
                </a:extLst>
              </a:tr>
              <a:tr h="33010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Standard Error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61.9576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42637753"/>
                  </a:ext>
                </a:extLst>
              </a:tr>
              <a:tr h="33010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Observations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49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612278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ED1DF5-6CD9-32A2-E304-313BAD96E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609522"/>
              </p:ext>
            </p:extLst>
          </p:nvPr>
        </p:nvGraphicFramePr>
        <p:xfrm>
          <a:off x="7674300" y="3194224"/>
          <a:ext cx="4375132" cy="1303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7077">
                  <a:extLst>
                    <a:ext uri="{9D8B030D-6E8A-4147-A177-3AD203B41FA5}">
                      <a16:colId xmlns:a16="http://schemas.microsoft.com/office/drawing/2014/main" val="3359552342"/>
                    </a:ext>
                  </a:extLst>
                </a:gridCol>
                <a:gridCol w="340792">
                  <a:extLst>
                    <a:ext uri="{9D8B030D-6E8A-4147-A177-3AD203B41FA5}">
                      <a16:colId xmlns:a16="http://schemas.microsoft.com/office/drawing/2014/main" val="2754890987"/>
                    </a:ext>
                  </a:extLst>
                </a:gridCol>
                <a:gridCol w="653935">
                  <a:extLst>
                    <a:ext uri="{9D8B030D-6E8A-4147-A177-3AD203B41FA5}">
                      <a16:colId xmlns:a16="http://schemas.microsoft.com/office/drawing/2014/main" val="2387923786"/>
                    </a:ext>
                  </a:extLst>
                </a:gridCol>
                <a:gridCol w="837396">
                  <a:extLst>
                    <a:ext uri="{9D8B030D-6E8A-4147-A177-3AD203B41FA5}">
                      <a16:colId xmlns:a16="http://schemas.microsoft.com/office/drawing/2014/main" val="3463681734"/>
                    </a:ext>
                  </a:extLst>
                </a:gridCol>
                <a:gridCol w="470473">
                  <a:extLst>
                    <a:ext uri="{9D8B030D-6E8A-4147-A177-3AD203B41FA5}">
                      <a16:colId xmlns:a16="http://schemas.microsoft.com/office/drawing/2014/main" val="3064651021"/>
                    </a:ext>
                  </a:extLst>
                </a:gridCol>
                <a:gridCol w="1105459">
                  <a:extLst>
                    <a:ext uri="{9D8B030D-6E8A-4147-A177-3AD203B41FA5}">
                      <a16:colId xmlns:a16="http://schemas.microsoft.com/office/drawing/2014/main" val="583467048"/>
                    </a:ext>
                  </a:extLst>
                </a:gridCol>
              </a:tblGrid>
              <a:tr h="18605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ANOVA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4567104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 err="1">
                          <a:effectLst/>
                        </a:rPr>
                        <a:t>df</a:t>
                      </a:r>
                      <a:endParaRPr lang="en-IN" sz="14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SS</a:t>
                      </a:r>
                      <a:endParaRPr lang="en-IN" sz="14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MS</a:t>
                      </a:r>
                      <a:endParaRPr lang="en-IN" sz="14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F</a:t>
                      </a:r>
                      <a:endParaRPr lang="en-IN" sz="14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Significance F</a:t>
                      </a:r>
                      <a:endParaRPr lang="en-IN" sz="14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57556085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Regression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213685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17807.12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4.639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0.00016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467953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Residual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36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138194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3838.744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49363245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Total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48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351880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877011070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4443CD3D-5376-D9B6-74EC-FA4668EF310F}"/>
              </a:ext>
            </a:extLst>
          </p:cNvPr>
          <p:cNvSpPr/>
          <p:nvPr/>
        </p:nvSpPr>
        <p:spPr>
          <a:xfrm>
            <a:off x="1696069" y="5892335"/>
            <a:ext cx="1351722" cy="410817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6AA2-BA71-938D-4D93-DC2859E4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Results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C03009-CA83-A183-4CB8-3A692875B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722475"/>
              </p:ext>
            </p:extLst>
          </p:nvPr>
        </p:nvGraphicFramePr>
        <p:xfrm>
          <a:off x="1524401" y="2511450"/>
          <a:ext cx="7935485" cy="31298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7169">
                  <a:extLst>
                    <a:ext uri="{9D8B030D-6E8A-4147-A177-3AD203B41FA5}">
                      <a16:colId xmlns:a16="http://schemas.microsoft.com/office/drawing/2014/main" val="3118844043"/>
                    </a:ext>
                  </a:extLst>
                </a:gridCol>
                <a:gridCol w="1247591">
                  <a:extLst>
                    <a:ext uri="{9D8B030D-6E8A-4147-A177-3AD203B41FA5}">
                      <a16:colId xmlns:a16="http://schemas.microsoft.com/office/drawing/2014/main" val="2233159116"/>
                    </a:ext>
                  </a:extLst>
                </a:gridCol>
                <a:gridCol w="1211706">
                  <a:extLst>
                    <a:ext uri="{9D8B030D-6E8A-4147-A177-3AD203B41FA5}">
                      <a16:colId xmlns:a16="http://schemas.microsoft.com/office/drawing/2014/main" val="76015683"/>
                    </a:ext>
                  </a:extLst>
                </a:gridCol>
                <a:gridCol w="1744704">
                  <a:extLst>
                    <a:ext uri="{9D8B030D-6E8A-4147-A177-3AD203B41FA5}">
                      <a16:colId xmlns:a16="http://schemas.microsoft.com/office/drawing/2014/main" val="1216932129"/>
                    </a:ext>
                  </a:extLst>
                </a:gridCol>
                <a:gridCol w="1082609">
                  <a:extLst>
                    <a:ext uri="{9D8B030D-6E8A-4147-A177-3AD203B41FA5}">
                      <a16:colId xmlns:a16="http://schemas.microsoft.com/office/drawing/2014/main" val="1524724702"/>
                    </a:ext>
                  </a:extLst>
                </a:gridCol>
                <a:gridCol w="1211706">
                  <a:extLst>
                    <a:ext uri="{9D8B030D-6E8A-4147-A177-3AD203B41FA5}">
                      <a16:colId xmlns:a16="http://schemas.microsoft.com/office/drawing/2014/main" val="985974291"/>
                    </a:ext>
                  </a:extLst>
                </a:gridCol>
              </a:tblGrid>
              <a:tr h="84805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Unstandardized Coefficients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Standardized Coefficients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897663"/>
                  </a:ext>
                </a:extLst>
              </a:tr>
              <a:tr h="572503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Std. Error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Beta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777840"/>
                  </a:ext>
                </a:extLst>
              </a:tr>
              <a:tr h="42731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(Constant)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370.628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17.615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 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21.040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.000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64400914"/>
                  </a:ext>
                </a:extLst>
              </a:tr>
              <a:tr h="42731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Trend (M)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3.674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.609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.613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6.035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.000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15765059"/>
                  </a:ext>
                </a:extLst>
              </a:tr>
              <a:tr h="42731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Dummy12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81.906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31.570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.265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2.594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.013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09414017"/>
                  </a:ext>
                </a:extLst>
              </a:tr>
              <a:tr h="42731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Dummy7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-69.225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31.394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-.224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-2.205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.033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73656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399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78E1-BE4F-B370-93B7-32D2B435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420" y="328688"/>
            <a:ext cx="8911687" cy="1280890"/>
          </a:xfrm>
        </p:spPr>
        <p:txBody>
          <a:bodyPr/>
          <a:lstStyle/>
          <a:p>
            <a:r>
              <a:rPr lang="en-US" dirty="0"/>
              <a:t>Regression Fit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616756D-E3E9-FD55-1C27-3A250C3B2E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431839"/>
              </p:ext>
            </p:extLst>
          </p:nvPr>
        </p:nvGraphicFramePr>
        <p:xfrm>
          <a:off x="2115420" y="1491175"/>
          <a:ext cx="9757712" cy="5038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59501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AD2B-3518-0B16-C16A-9CC2225C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876" y="216147"/>
            <a:ext cx="8911687" cy="942975"/>
          </a:xfrm>
        </p:spPr>
        <p:txBody>
          <a:bodyPr/>
          <a:lstStyle/>
          <a:p>
            <a:r>
              <a:rPr lang="en-US" dirty="0"/>
              <a:t>Simple Exponential Smoothing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642751-244B-2B42-35C4-67B5D43CE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618331"/>
              </p:ext>
            </p:extLst>
          </p:nvPr>
        </p:nvGraphicFramePr>
        <p:xfrm>
          <a:off x="1418705" y="1159122"/>
          <a:ext cx="9426632" cy="15563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4022">
                  <a:extLst>
                    <a:ext uri="{9D8B030D-6E8A-4147-A177-3AD203B41FA5}">
                      <a16:colId xmlns:a16="http://schemas.microsoft.com/office/drawing/2014/main" val="3914303522"/>
                    </a:ext>
                  </a:extLst>
                </a:gridCol>
                <a:gridCol w="1236838">
                  <a:extLst>
                    <a:ext uri="{9D8B030D-6E8A-4147-A177-3AD203B41FA5}">
                      <a16:colId xmlns:a16="http://schemas.microsoft.com/office/drawing/2014/main" val="1218297892"/>
                    </a:ext>
                  </a:extLst>
                </a:gridCol>
                <a:gridCol w="1236838">
                  <a:extLst>
                    <a:ext uri="{9D8B030D-6E8A-4147-A177-3AD203B41FA5}">
                      <a16:colId xmlns:a16="http://schemas.microsoft.com/office/drawing/2014/main" val="3401206349"/>
                    </a:ext>
                  </a:extLst>
                </a:gridCol>
                <a:gridCol w="1236838">
                  <a:extLst>
                    <a:ext uri="{9D8B030D-6E8A-4147-A177-3AD203B41FA5}">
                      <a16:colId xmlns:a16="http://schemas.microsoft.com/office/drawing/2014/main" val="164648063"/>
                    </a:ext>
                  </a:extLst>
                </a:gridCol>
                <a:gridCol w="1236838">
                  <a:extLst>
                    <a:ext uri="{9D8B030D-6E8A-4147-A177-3AD203B41FA5}">
                      <a16:colId xmlns:a16="http://schemas.microsoft.com/office/drawing/2014/main" val="2889215384"/>
                    </a:ext>
                  </a:extLst>
                </a:gridCol>
                <a:gridCol w="618420">
                  <a:extLst>
                    <a:ext uri="{9D8B030D-6E8A-4147-A177-3AD203B41FA5}">
                      <a16:colId xmlns:a16="http://schemas.microsoft.com/office/drawing/2014/main" val="4281640644"/>
                    </a:ext>
                  </a:extLst>
                </a:gridCol>
                <a:gridCol w="1236838">
                  <a:extLst>
                    <a:ext uri="{9D8B030D-6E8A-4147-A177-3AD203B41FA5}">
                      <a16:colId xmlns:a16="http://schemas.microsoft.com/office/drawing/2014/main" val="3404188862"/>
                    </a:ext>
                  </a:extLst>
                </a:gridCol>
              </a:tblGrid>
              <a:tr h="556920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Predictors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 Fit statistics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solidFill>
                            <a:schemeClr val="bg1"/>
                          </a:solidFill>
                          <a:effectLst/>
                        </a:rPr>
                        <a:t>Ljung-Box Q(18)</a:t>
                      </a:r>
                      <a:endParaRPr lang="en-IN" sz="18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Outliers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1680"/>
                  </a:ext>
                </a:extLst>
              </a:tr>
              <a:tr h="5569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Stationary R-squared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Statistics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DF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833378"/>
                  </a:ext>
                </a:extLst>
              </a:tr>
              <a:tr h="44252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Quantity-Model_1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.436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23.181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.143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899608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37A280-3744-D3BB-B42F-7220727B8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711786"/>
              </p:ext>
            </p:extLst>
          </p:nvPr>
        </p:nvGraphicFramePr>
        <p:xfrm>
          <a:off x="1418704" y="2732359"/>
          <a:ext cx="9426631" cy="29202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3833">
                  <a:extLst>
                    <a:ext uri="{9D8B030D-6E8A-4147-A177-3AD203B41FA5}">
                      <a16:colId xmlns:a16="http://schemas.microsoft.com/office/drawing/2014/main" val="557762069"/>
                    </a:ext>
                  </a:extLst>
                </a:gridCol>
                <a:gridCol w="1785016">
                  <a:extLst>
                    <a:ext uri="{9D8B030D-6E8A-4147-A177-3AD203B41FA5}">
                      <a16:colId xmlns:a16="http://schemas.microsoft.com/office/drawing/2014/main" val="2166765614"/>
                    </a:ext>
                  </a:extLst>
                </a:gridCol>
                <a:gridCol w="1355574">
                  <a:extLst>
                    <a:ext uri="{9D8B030D-6E8A-4147-A177-3AD203B41FA5}">
                      <a16:colId xmlns:a16="http://schemas.microsoft.com/office/drawing/2014/main" val="1037054111"/>
                    </a:ext>
                  </a:extLst>
                </a:gridCol>
                <a:gridCol w="1676881">
                  <a:extLst>
                    <a:ext uri="{9D8B030D-6E8A-4147-A177-3AD203B41FA5}">
                      <a16:colId xmlns:a16="http://schemas.microsoft.com/office/drawing/2014/main" val="3806182689"/>
                    </a:ext>
                  </a:extLst>
                </a:gridCol>
                <a:gridCol w="1885327">
                  <a:extLst>
                    <a:ext uri="{9D8B030D-6E8A-4147-A177-3AD203B41FA5}">
                      <a16:colId xmlns:a16="http://schemas.microsoft.com/office/drawing/2014/main" val="1390835696"/>
                    </a:ext>
                  </a:extLst>
                </a:gridCol>
              </a:tblGrid>
              <a:tr h="241420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Fit Statistic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Mean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SE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Minimum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Maximum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165741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 dirty="0">
                          <a:effectLst/>
                        </a:rPr>
                        <a:t>Stationary R-squared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.436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.436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.436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64737623"/>
                  </a:ext>
                </a:extLst>
              </a:tr>
              <a:tr h="316491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 dirty="0">
                          <a:effectLst/>
                        </a:rPr>
                        <a:t>R-squared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.316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.316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.316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34622766"/>
                  </a:ext>
                </a:extLst>
              </a:tr>
              <a:tr h="30784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RMSE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70.809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70.809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70.809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31951555"/>
                  </a:ext>
                </a:extLst>
              </a:tr>
              <a:tr h="30784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MAPE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12.521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12.521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12.521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10901022"/>
                  </a:ext>
                </a:extLst>
              </a:tr>
              <a:tr h="30784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MaxAPE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32.454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32.454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32.454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472835898"/>
                  </a:ext>
                </a:extLst>
              </a:tr>
              <a:tr h="316491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MAE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57.941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57.941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57.941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58755141"/>
                  </a:ext>
                </a:extLst>
              </a:tr>
              <a:tr h="333231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MaxAE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187.261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187.261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187.261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70560668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Normalized BIC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8.599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8.599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8.599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7079474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452157-E196-E3CC-1A92-0BE86517F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004781"/>
              </p:ext>
            </p:extLst>
          </p:nvPr>
        </p:nvGraphicFramePr>
        <p:xfrm>
          <a:off x="1418705" y="5857703"/>
          <a:ext cx="9482053" cy="8295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8771">
                  <a:extLst>
                    <a:ext uri="{9D8B030D-6E8A-4147-A177-3AD203B41FA5}">
                      <a16:colId xmlns:a16="http://schemas.microsoft.com/office/drawing/2014/main" val="2582298826"/>
                    </a:ext>
                  </a:extLst>
                </a:gridCol>
                <a:gridCol w="2322022">
                  <a:extLst>
                    <a:ext uri="{9D8B030D-6E8A-4147-A177-3AD203B41FA5}">
                      <a16:colId xmlns:a16="http://schemas.microsoft.com/office/drawing/2014/main" val="18812885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2117216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038896351"/>
                    </a:ext>
                  </a:extLst>
                </a:gridCol>
                <a:gridCol w="809105">
                  <a:extLst>
                    <a:ext uri="{9D8B030D-6E8A-4147-A177-3AD203B41FA5}">
                      <a16:colId xmlns:a16="http://schemas.microsoft.com/office/drawing/2014/main" val="2901164635"/>
                    </a:ext>
                  </a:extLst>
                </a:gridCol>
                <a:gridCol w="825731">
                  <a:extLst>
                    <a:ext uri="{9D8B030D-6E8A-4147-A177-3AD203B41FA5}">
                      <a16:colId xmlns:a16="http://schemas.microsoft.com/office/drawing/2014/main" val="1103970020"/>
                    </a:ext>
                  </a:extLst>
                </a:gridCol>
                <a:gridCol w="853442">
                  <a:extLst>
                    <a:ext uri="{9D8B030D-6E8A-4147-A177-3AD203B41FA5}">
                      <a16:colId xmlns:a16="http://schemas.microsoft.com/office/drawing/2014/main" val="1581105823"/>
                    </a:ext>
                  </a:extLst>
                </a:gridCol>
              </a:tblGrid>
              <a:tr h="376842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Estimate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SE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533118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Quantity-Model_1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 dirty="0">
                          <a:effectLst/>
                        </a:rPr>
                        <a:t>No Transformation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 dirty="0">
                          <a:effectLst/>
                        </a:rPr>
                        <a:t>Alpha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.205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.087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2.356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.023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84063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845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CE58-72C6-8988-26A7-120EEFF1A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2117" y="136430"/>
            <a:ext cx="8911687" cy="755803"/>
          </a:xfrm>
        </p:spPr>
        <p:txBody>
          <a:bodyPr/>
          <a:lstStyle/>
          <a:p>
            <a:r>
              <a:rPr lang="en-US" dirty="0"/>
              <a:t>Residual ACF and PACF</a:t>
            </a:r>
            <a:endParaRPr lang="en-IN" dirty="0"/>
          </a:p>
        </p:txBody>
      </p:sp>
      <p:pic>
        <p:nvPicPr>
          <p:cNvPr id="4" name="Picture 3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6A00EAE3-5717-C445-D528-C7A1F7CEC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833" y="1440873"/>
            <a:ext cx="9032287" cy="523456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274730-BC44-FD17-B4BC-3D29403A1D0C}"/>
              </a:ext>
            </a:extLst>
          </p:cNvPr>
          <p:cNvSpPr/>
          <p:nvPr/>
        </p:nvSpPr>
        <p:spPr>
          <a:xfrm>
            <a:off x="7121236" y="4810298"/>
            <a:ext cx="581891" cy="60405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68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C13A-4334-38D6-F2A4-5B267863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073" y="358639"/>
            <a:ext cx="8911687" cy="1280890"/>
          </a:xfrm>
        </p:spPr>
        <p:txBody>
          <a:bodyPr/>
          <a:lstStyle/>
          <a:p>
            <a:r>
              <a:rPr lang="en-US" dirty="0"/>
              <a:t>Forecasts</a:t>
            </a:r>
            <a:endParaRPr lang="en-IN" dirty="0"/>
          </a:p>
        </p:txBody>
      </p:sp>
      <p:pic>
        <p:nvPicPr>
          <p:cNvPr id="4" name="Picture 3" descr="A graph with red lines&#10;&#10;Description automatically generated">
            <a:extLst>
              <a:ext uri="{FF2B5EF4-FFF2-40B4-BE49-F238E27FC236}">
                <a16:creationId xmlns:a16="http://schemas.microsoft.com/office/drawing/2014/main" id="{A2020809-FFCC-6187-8F33-FB58DFE9F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755" y="1757362"/>
            <a:ext cx="9911569" cy="483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11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8CE3F-5774-3E91-0DCD-55F8F227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3448" y="293717"/>
            <a:ext cx="8911687" cy="1041862"/>
          </a:xfrm>
        </p:spPr>
        <p:txBody>
          <a:bodyPr/>
          <a:lstStyle/>
          <a:p>
            <a:r>
              <a:rPr lang="en-US" dirty="0"/>
              <a:t>ACF and PACF</a:t>
            </a:r>
            <a:endParaRPr lang="en-IN" dirty="0"/>
          </a:p>
        </p:txBody>
      </p:sp>
      <p:pic>
        <p:nvPicPr>
          <p:cNvPr id="4" name="Picture 3" descr="A graph with a line graph&#10;&#10;Description automatically generated with medium confidence">
            <a:extLst>
              <a:ext uri="{FF2B5EF4-FFF2-40B4-BE49-F238E27FC236}">
                <a16:creationId xmlns:a16="http://schemas.microsoft.com/office/drawing/2014/main" id="{FE942EE0-DADE-DA23-6B24-91702EE77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85" y="1684423"/>
            <a:ext cx="6334125" cy="4641850"/>
          </a:xfrm>
          <a:prstGeom prst="rect">
            <a:avLst/>
          </a:prstGeom>
        </p:spPr>
      </p:pic>
      <p:pic>
        <p:nvPicPr>
          <p:cNvPr id="5" name="Picture 4" descr="A graph of a bar graph&#10;&#10;Description automatically generated">
            <a:extLst>
              <a:ext uri="{FF2B5EF4-FFF2-40B4-BE49-F238E27FC236}">
                <a16:creationId xmlns:a16="http://schemas.microsoft.com/office/drawing/2014/main" id="{BECAA1E8-4546-E61D-141F-D6FE2B37D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508" y="1684424"/>
            <a:ext cx="5722685" cy="455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45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F7C4-BCF0-FD1B-3A77-1BB40F6C4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808" y="255180"/>
            <a:ext cx="8911687" cy="1280890"/>
          </a:xfrm>
        </p:spPr>
        <p:txBody>
          <a:bodyPr/>
          <a:lstStyle/>
          <a:p>
            <a:r>
              <a:rPr lang="en-US" dirty="0"/>
              <a:t>Augmented Dicky – Fuller Test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CEB33A-ADBE-64AD-E560-836F8BAA96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0333" y="1350001"/>
            <a:ext cx="10413107" cy="21236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adf.test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qty.ts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Augmented Dickey-Fuller Test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data: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qty.ts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Dickey-Fuller = -2.665, Lag order = 3, p-value = 0.3081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alternative hypothesis: stationary </a:t>
            </a:r>
            <a:b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22637-1EE0-CE9C-4727-D721A2172786}"/>
              </a:ext>
            </a:extLst>
          </p:cNvPr>
          <p:cNvSpPr txBox="1"/>
          <p:nvPr/>
        </p:nvSpPr>
        <p:spPr>
          <a:xfrm>
            <a:off x="1310334" y="4663828"/>
            <a:ext cx="10413106" cy="1938992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	</a:t>
            </a:r>
            <a:r>
              <a:rPr lang="en-US" sz="2400" dirty="0"/>
              <a:t>Augmented Dickey-Fuller Test (After first difference)</a:t>
            </a:r>
          </a:p>
          <a:p>
            <a:endParaRPr lang="en-US" sz="2400" dirty="0"/>
          </a:p>
          <a:p>
            <a:r>
              <a:rPr lang="en-US" sz="2400" dirty="0"/>
              <a:t>data:  </a:t>
            </a:r>
            <a:r>
              <a:rPr lang="en-US" sz="2400" dirty="0" err="1"/>
              <a:t>diff.ts</a:t>
            </a:r>
            <a:endParaRPr lang="en-US" sz="2400" dirty="0"/>
          </a:p>
          <a:p>
            <a:r>
              <a:rPr lang="en-US" sz="2400" dirty="0"/>
              <a:t>Dickey-Fuller = -4.1315, Lag order = 3, p-value = 0.01155</a:t>
            </a:r>
          </a:p>
          <a:p>
            <a:r>
              <a:rPr lang="en-US" sz="2400" dirty="0"/>
              <a:t>alternative hypothesis: stationary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B94523-092D-329A-BD35-70130F36F022}"/>
              </a:ext>
            </a:extLst>
          </p:cNvPr>
          <p:cNvSpPr txBox="1"/>
          <p:nvPr/>
        </p:nvSpPr>
        <p:spPr>
          <a:xfrm>
            <a:off x="3451123" y="3808213"/>
            <a:ext cx="4579374" cy="46166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Take first Difference: Y</a:t>
            </a:r>
            <a:r>
              <a:rPr lang="en-IN" sz="2400" baseline="-25000" dirty="0"/>
              <a:t>t</a:t>
            </a:r>
            <a:r>
              <a:rPr lang="en-IN" sz="2400" dirty="0"/>
              <a:t> – Y</a:t>
            </a:r>
            <a:r>
              <a:rPr lang="en-IN" sz="2400" baseline="-25000" dirty="0"/>
              <a:t>t-1</a:t>
            </a:r>
          </a:p>
        </p:txBody>
      </p:sp>
    </p:spTree>
    <p:extLst>
      <p:ext uri="{BB962C8B-B14F-4D97-AF65-F5344CB8AC3E}">
        <p14:creationId xmlns:p14="http://schemas.microsoft.com/office/powerpoint/2010/main" val="28127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90AF-9E48-F19F-8A98-196CFAD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463" y="136430"/>
            <a:ext cx="8911687" cy="866639"/>
          </a:xfrm>
        </p:spPr>
        <p:txBody>
          <a:bodyPr/>
          <a:lstStyle/>
          <a:p>
            <a:r>
              <a:rPr lang="en-US" dirty="0"/>
              <a:t>Holt-Winters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47AD0-A53A-296D-CABA-1AFB3E12F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370284"/>
              </p:ext>
            </p:extLst>
          </p:nvPr>
        </p:nvGraphicFramePr>
        <p:xfrm>
          <a:off x="837028" y="1360301"/>
          <a:ext cx="10789917" cy="1182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4221">
                  <a:extLst>
                    <a:ext uri="{9D8B030D-6E8A-4147-A177-3AD203B41FA5}">
                      <a16:colId xmlns:a16="http://schemas.microsoft.com/office/drawing/2014/main" val="2756051327"/>
                    </a:ext>
                  </a:extLst>
                </a:gridCol>
                <a:gridCol w="1484142">
                  <a:extLst>
                    <a:ext uri="{9D8B030D-6E8A-4147-A177-3AD203B41FA5}">
                      <a16:colId xmlns:a16="http://schemas.microsoft.com/office/drawing/2014/main" val="1724832854"/>
                    </a:ext>
                  </a:extLst>
                </a:gridCol>
                <a:gridCol w="2117187">
                  <a:extLst>
                    <a:ext uri="{9D8B030D-6E8A-4147-A177-3AD203B41FA5}">
                      <a16:colId xmlns:a16="http://schemas.microsoft.com/office/drawing/2014/main" val="2168998463"/>
                    </a:ext>
                  </a:extLst>
                </a:gridCol>
                <a:gridCol w="1174653">
                  <a:extLst>
                    <a:ext uri="{9D8B030D-6E8A-4147-A177-3AD203B41FA5}">
                      <a16:colId xmlns:a16="http://schemas.microsoft.com/office/drawing/2014/main" val="3349947528"/>
                    </a:ext>
                  </a:extLst>
                </a:gridCol>
                <a:gridCol w="1399732">
                  <a:extLst>
                    <a:ext uri="{9D8B030D-6E8A-4147-A177-3AD203B41FA5}">
                      <a16:colId xmlns:a16="http://schemas.microsoft.com/office/drawing/2014/main" val="1414971825"/>
                    </a:ext>
                  </a:extLst>
                </a:gridCol>
                <a:gridCol w="829995">
                  <a:extLst>
                    <a:ext uri="{9D8B030D-6E8A-4147-A177-3AD203B41FA5}">
                      <a16:colId xmlns:a16="http://schemas.microsoft.com/office/drawing/2014/main" val="2798173756"/>
                    </a:ext>
                  </a:extLst>
                </a:gridCol>
                <a:gridCol w="1659987">
                  <a:extLst>
                    <a:ext uri="{9D8B030D-6E8A-4147-A177-3AD203B41FA5}">
                      <a16:colId xmlns:a16="http://schemas.microsoft.com/office/drawing/2014/main" val="2423903359"/>
                    </a:ext>
                  </a:extLst>
                </a:gridCol>
              </a:tblGrid>
              <a:tr h="314325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Predictors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 Fit statistics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Ljung</a:t>
                      </a:r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-Box Q(18)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Outliers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08441"/>
                  </a:ext>
                </a:extLst>
              </a:tr>
              <a:tr h="31432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Stationary R-squared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Statistics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DF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30208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Quantity-Model_1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.779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11.654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15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.705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193437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677BB3-16A8-0080-09E5-1FE75F4AE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401766"/>
              </p:ext>
            </p:extLst>
          </p:nvPr>
        </p:nvGraphicFramePr>
        <p:xfrm>
          <a:off x="837028" y="2658186"/>
          <a:ext cx="10789917" cy="2759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8535">
                  <a:extLst>
                    <a:ext uri="{9D8B030D-6E8A-4147-A177-3AD203B41FA5}">
                      <a16:colId xmlns:a16="http://schemas.microsoft.com/office/drawing/2014/main" val="810040504"/>
                    </a:ext>
                  </a:extLst>
                </a:gridCol>
                <a:gridCol w="1867247">
                  <a:extLst>
                    <a:ext uri="{9D8B030D-6E8A-4147-A177-3AD203B41FA5}">
                      <a16:colId xmlns:a16="http://schemas.microsoft.com/office/drawing/2014/main" val="325239391"/>
                    </a:ext>
                  </a:extLst>
                </a:gridCol>
                <a:gridCol w="1248168">
                  <a:extLst>
                    <a:ext uri="{9D8B030D-6E8A-4147-A177-3AD203B41FA5}">
                      <a16:colId xmlns:a16="http://schemas.microsoft.com/office/drawing/2014/main" val="888426247"/>
                    </a:ext>
                  </a:extLst>
                </a:gridCol>
                <a:gridCol w="2335940">
                  <a:extLst>
                    <a:ext uri="{9D8B030D-6E8A-4147-A177-3AD203B41FA5}">
                      <a16:colId xmlns:a16="http://schemas.microsoft.com/office/drawing/2014/main" val="687351334"/>
                    </a:ext>
                  </a:extLst>
                </a:gridCol>
                <a:gridCol w="1980027">
                  <a:extLst>
                    <a:ext uri="{9D8B030D-6E8A-4147-A177-3AD203B41FA5}">
                      <a16:colId xmlns:a16="http://schemas.microsoft.com/office/drawing/2014/main" val="2888533982"/>
                    </a:ext>
                  </a:extLst>
                </a:gridCol>
              </a:tblGrid>
              <a:tr h="263768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Fit Statistic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Mean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SE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Minimum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Maximum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300542"/>
                  </a:ext>
                </a:extLst>
              </a:tr>
              <a:tr h="340504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 dirty="0">
                          <a:effectLst/>
                        </a:rPr>
                        <a:t>Stationary R-squared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.779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.779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.779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26188026"/>
                  </a:ext>
                </a:extLst>
              </a:tr>
              <a:tr h="366651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R-squared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.589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.589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.589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92099116"/>
                  </a:ext>
                </a:extLst>
              </a:tr>
              <a:tr h="22381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 dirty="0">
                          <a:effectLst/>
                        </a:rPr>
                        <a:t>RMSE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56.088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56.088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56.088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38650134"/>
                  </a:ext>
                </a:extLst>
              </a:tr>
              <a:tr h="21769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MAPE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9.678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9.678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9.678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48760783"/>
                  </a:ext>
                </a:extLst>
              </a:tr>
              <a:tr h="21769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MaxAPE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28.041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28.041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28.041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86051224"/>
                  </a:ext>
                </a:extLst>
              </a:tr>
              <a:tr h="21769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MAE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43.353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43.353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43.353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53069390"/>
                  </a:ext>
                </a:extLst>
              </a:tr>
              <a:tr h="22381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MaxAE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138.521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138.521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138.521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16086242"/>
                  </a:ext>
                </a:extLst>
              </a:tr>
              <a:tr h="37810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Normalized BIC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8.292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8.292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u="none" strike="noStrike" dirty="0">
                          <a:effectLst/>
                        </a:rPr>
                        <a:t>8.292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7478281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0DE522-AAD6-603B-D01B-954C4BC3B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427019"/>
              </p:ext>
            </p:extLst>
          </p:nvPr>
        </p:nvGraphicFramePr>
        <p:xfrm>
          <a:off x="837028" y="5590052"/>
          <a:ext cx="10789916" cy="1173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9901">
                  <a:extLst>
                    <a:ext uri="{9D8B030D-6E8A-4147-A177-3AD203B41FA5}">
                      <a16:colId xmlns:a16="http://schemas.microsoft.com/office/drawing/2014/main" val="3116739926"/>
                    </a:ext>
                  </a:extLst>
                </a:gridCol>
                <a:gridCol w="1694373">
                  <a:extLst>
                    <a:ext uri="{9D8B030D-6E8A-4147-A177-3AD203B41FA5}">
                      <a16:colId xmlns:a16="http://schemas.microsoft.com/office/drawing/2014/main" val="3142150496"/>
                    </a:ext>
                  </a:extLst>
                </a:gridCol>
                <a:gridCol w="1761343">
                  <a:extLst>
                    <a:ext uri="{9D8B030D-6E8A-4147-A177-3AD203B41FA5}">
                      <a16:colId xmlns:a16="http://schemas.microsoft.com/office/drawing/2014/main" val="335484335"/>
                    </a:ext>
                  </a:extLst>
                </a:gridCol>
                <a:gridCol w="1800612">
                  <a:extLst>
                    <a:ext uri="{9D8B030D-6E8A-4147-A177-3AD203B41FA5}">
                      <a16:colId xmlns:a16="http://schemas.microsoft.com/office/drawing/2014/main" val="1258023846"/>
                    </a:ext>
                  </a:extLst>
                </a:gridCol>
                <a:gridCol w="1237061">
                  <a:extLst>
                    <a:ext uri="{9D8B030D-6E8A-4147-A177-3AD203B41FA5}">
                      <a16:colId xmlns:a16="http://schemas.microsoft.com/office/drawing/2014/main" val="3908530384"/>
                    </a:ext>
                  </a:extLst>
                </a:gridCol>
                <a:gridCol w="1319532">
                  <a:extLst>
                    <a:ext uri="{9D8B030D-6E8A-4147-A177-3AD203B41FA5}">
                      <a16:colId xmlns:a16="http://schemas.microsoft.com/office/drawing/2014/main" val="3279058317"/>
                    </a:ext>
                  </a:extLst>
                </a:gridCol>
                <a:gridCol w="1127094">
                  <a:extLst>
                    <a:ext uri="{9D8B030D-6E8A-4147-A177-3AD203B41FA5}">
                      <a16:colId xmlns:a16="http://schemas.microsoft.com/office/drawing/2014/main" val="2220862610"/>
                    </a:ext>
                  </a:extLst>
                </a:gridCol>
              </a:tblGrid>
              <a:tr h="202752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Estimate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077628"/>
                  </a:ext>
                </a:extLst>
              </a:tr>
              <a:tr h="309921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Quantity-Model_1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No Transformation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Alpha (Level)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.099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solidFill>
                            <a:schemeClr val="tx1"/>
                          </a:solidFill>
                          <a:effectLst/>
                        </a:rPr>
                        <a:t>.082</a:t>
                      </a:r>
                      <a:endParaRPr lang="en-IN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solidFill>
                            <a:schemeClr val="tx1"/>
                          </a:solidFill>
                          <a:effectLst/>
                        </a:rPr>
                        <a:t>1.213</a:t>
                      </a:r>
                      <a:endParaRPr lang="en-IN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solidFill>
                            <a:schemeClr val="tx1"/>
                          </a:solidFill>
                          <a:effectLst/>
                        </a:rPr>
                        <a:t>.231</a:t>
                      </a:r>
                      <a:endParaRPr lang="en-IN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55321561"/>
                  </a:ext>
                </a:extLst>
              </a:tr>
              <a:tr h="3046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Gamma (Trend)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2.019E-05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.026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solidFill>
                            <a:schemeClr val="tx1"/>
                          </a:solidFill>
                          <a:effectLst/>
                        </a:rPr>
                        <a:t>.001</a:t>
                      </a:r>
                      <a:endParaRPr lang="en-IN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.999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7905575"/>
                  </a:ext>
                </a:extLst>
              </a:tr>
              <a:tr h="309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solidFill>
                            <a:schemeClr val="tx1"/>
                          </a:solidFill>
                          <a:effectLst/>
                        </a:rPr>
                        <a:t>Delta (Season)</a:t>
                      </a:r>
                      <a:endParaRPr lang="en-IN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solidFill>
                            <a:schemeClr val="tx1"/>
                          </a:solidFill>
                          <a:effectLst/>
                        </a:rPr>
                        <a:t>.001</a:t>
                      </a:r>
                      <a:endParaRPr lang="en-IN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.140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.007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.994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0961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91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D44D-F4A1-54C7-9D0C-AFB795DE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641" y="174285"/>
            <a:ext cx="8911687" cy="1086702"/>
          </a:xfrm>
        </p:spPr>
        <p:txBody>
          <a:bodyPr/>
          <a:lstStyle/>
          <a:p>
            <a:r>
              <a:rPr lang="en-US" dirty="0"/>
              <a:t>Forecast (Winter)</a:t>
            </a:r>
            <a:endParaRPr lang="en-IN" dirty="0"/>
          </a:p>
        </p:txBody>
      </p:sp>
      <p:pic>
        <p:nvPicPr>
          <p:cNvPr id="4" name="Picture 3" descr="A graph showing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0DB6B09-7E3F-7825-1186-33297A63F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03" y="1482213"/>
            <a:ext cx="11187800" cy="508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08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B9CF-B4B3-3ED0-FE5F-D9FF0E10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686" y="306333"/>
            <a:ext cx="8911687" cy="895661"/>
          </a:xfrm>
        </p:spPr>
        <p:txBody>
          <a:bodyPr/>
          <a:lstStyle/>
          <a:p>
            <a:r>
              <a:rPr lang="en-US" dirty="0"/>
              <a:t>Residuals (Winter)</a:t>
            </a:r>
            <a:endParaRPr lang="en-IN" dirty="0"/>
          </a:p>
        </p:txBody>
      </p:sp>
      <p:pic>
        <p:nvPicPr>
          <p:cNvPr id="4" name="Picture 3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97B80E11-B1EB-19DA-1124-EE3D2511A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7" y="1069975"/>
            <a:ext cx="7359338" cy="548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3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BA9A-9DCD-D656-8108-CE44DFD8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470" y="223181"/>
            <a:ext cx="8911687" cy="1056979"/>
          </a:xfrm>
        </p:spPr>
        <p:txBody>
          <a:bodyPr/>
          <a:lstStyle/>
          <a:p>
            <a:r>
              <a:rPr lang="en-US" dirty="0"/>
              <a:t>ARIMA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ADED7-A33F-6D1D-2155-274E65A57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188" y="1533378"/>
            <a:ext cx="9387424" cy="4377844"/>
          </a:xfrm>
        </p:spPr>
        <p:txBody>
          <a:bodyPr/>
          <a:lstStyle/>
          <a:p>
            <a:r>
              <a:rPr lang="en-US" sz="2400" dirty="0"/>
              <a:t>ARIMA Expert (Auto ARIMA suggested ARIMA (0, 0, 1)</a:t>
            </a:r>
          </a:p>
          <a:p>
            <a:r>
              <a:rPr lang="en-US" sz="2400" dirty="0"/>
              <a:t>Series not stationary (ADF Test)</a:t>
            </a:r>
          </a:p>
          <a:p>
            <a:r>
              <a:rPr lang="en-US" sz="2400" dirty="0"/>
              <a:t>Should use difference (1)</a:t>
            </a:r>
          </a:p>
          <a:p>
            <a:r>
              <a:rPr lang="en-US" sz="2400" dirty="0"/>
              <a:t>ARIMA (1, 1, 1)</a:t>
            </a:r>
          </a:p>
          <a:p>
            <a:r>
              <a:rPr lang="en-US" sz="2400" dirty="0"/>
              <a:t>ARIMA (2, 1, 0)</a:t>
            </a:r>
          </a:p>
        </p:txBody>
      </p:sp>
    </p:spTree>
    <p:extLst>
      <p:ext uri="{BB962C8B-B14F-4D97-AF65-F5344CB8AC3E}">
        <p14:creationId xmlns:p14="http://schemas.microsoft.com/office/powerpoint/2010/main" val="2040788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73C2-E99B-81F7-2A9A-6DD30AF35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165" y="195046"/>
            <a:ext cx="8911687" cy="916302"/>
          </a:xfrm>
        </p:spPr>
        <p:txBody>
          <a:bodyPr/>
          <a:lstStyle/>
          <a:p>
            <a:r>
              <a:rPr lang="en-US" dirty="0"/>
              <a:t>ARIMA (1, 1, 1)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5CD7AB-E50D-2565-992D-FDC3317BD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244464"/>
              </p:ext>
            </p:extLst>
          </p:nvPr>
        </p:nvGraphicFramePr>
        <p:xfrm>
          <a:off x="2541519" y="1111348"/>
          <a:ext cx="7339457" cy="1477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9147">
                  <a:extLst>
                    <a:ext uri="{9D8B030D-6E8A-4147-A177-3AD203B41FA5}">
                      <a16:colId xmlns:a16="http://schemas.microsoft.com/office/drawing/2014/main" val="1385752286"/>
                    </a:ext>
                  </a:extLst>
                </a:gridCol>
                <a:gridCol w="1129147">
                  <a:extLst>
                    <a:ext uri="{9D8B030D-6E8A-4147-A177-3AD203B41FA5}">
                      <a16:colId xmlns:a16="http://schemas.microsoft.com/office/drawing/2014/main" val="3768795740"/>
                    </a:ext>
                  </a:extLst>
                </a:gridCol>
                <a:gridCol w="1129147">
                  <a:extLst>
                    <a:ext uri="{9D8B030D-6E8A-4147-A177-3AD203B41FA5}">
                      <a16:colId xmlns:a16="http://schemas.microsoft.com/office/drawing/2014/main" val="3842533168"/>
                    </a:ext>
                  </a:extLst>
                </a:gridCol>
                <a:gridCol w="1129147">
                  <a:extLst>
                    <a:ext uri="{9D8B030D-6E8A-4147-A177-3AD203B41FA5}">
                      <a16:colId xmlns:a16="http://schemas.microsoft.com/office/drawing/2014/main" val="621614241"/>
                    </a:ext>
                  </a:extLst>
                </a:gridCol>
                <a:gridCol w="1129147">
                  <a:extLst>
                    <a:ext uri="{9D8B030D-6E8A-4147-A177-3AD203B41FA5}">
                      <a16:colId xmlns:a16="http://schemas.microsoft.com/office/drawing/2014/main" val="2000506375"/>
                    </a:ext>
                  </a:extLst>
                </a:gridCol>
                <a:gridCol w="564575">
                  <a:extLst>
                    <a:ext uri="{9D8B030D-6E8A-4147-A177-3AD203B41FA5}">
                      <a16:colId xmlns:a16="http://schemas.microsoft.com/office/drawing/2014/main" val="1319496388"/>
                    </a:ext>
                  </a:extLst>
                </a:gridCol>
                <a:gridCol w="1129147">
                  <a:extLst>
                    <a:ext uri="{9D8B030D-6E8A-4147-A177-3AD203B41FA5}">
                      <a16:colId xmlns:a16="http://schemas.microsoft.com/office/drawing/2014/main" val="1690654788"/>
                    </a:ext>
                  </a:extLst>
                </a:gridCol>
              </a:tblGrid>
              <a:tr h="314325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Predictors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 Fit statistics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solidFill>
                            <a:schemeClr val="bg1"/>
                          </a:solidFill>
                          <a:effectLst/>
                        </a:rPr>
                        <a:t>Ljung-Box Q(18)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solidFill>
                            <a:schemeClr val="bg1"/>
                          </a:solidFill>
                          <a:effectLst/>
                        </a:rPr>
                        <a:t>Number of Outliers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583216"/>
                  </a:ext>
                </a:extLst>
              </a:tr>
              <a:tr h="31432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Stationary R-squared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Statistics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DF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78432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Quantity-Model_1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.468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16.481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16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.420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2202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820200-6B41-E75B-14CF-6CDC41449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433215"/>
              </p:ext>
            </p:extLst>
          </p:nvPr>
        </p:nvGraphicFramePr>
        <p:xfrm>
          <a:off x="298517" y="2818797"/>
          <a:ext cx="4696563" cy="2790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2987">
                  <a:extLst>
                    <a:ext uri="{9D8B030D-6E8A-4147-A177-3AD203B41FA5}">
                      <a16:colId xmlns:a16="http://schemas.microsoft.com/office/drawing/2014/main" val="4137219584"/>
                    </a:ext>
                  </a:extLst>
                </a:gridCol>
                <a:gridCol w="777922">
                  <a:extLst>
                    <a:ext uri="{9D8B030D-6E8A-4147-A177-3AD203B41FA5}">
                      <a16:colId xmlns:a16="http://schemas.microsoft.com/office/drawing/2014/main" val="3666713003"/>
                    </a:ext>
                  </a:extLst>
                </a:gridCol>
                <a:gridCol w="442860">
                  <a:extLst>
                    <a:ext uri="{9D8B030D-6E8A-4147-A177-3AD203B41FA5}">
                      <a16:colId xmlns:a16="http://schemas.microsoft.com/office/drawing/2014/main" val="4011759939"/>
                    </a:ext>
                  </a:extLst>
                </a:gridCol>
                <a:gridCol w="969684">
                  <a:extLst>
                    <a:ext uri="{9D8B030D-6E8A-4147-A177-3AD203B41FA5}">
                      <a16:colId xmlns:a16="http://schemas.microsoft.com/office/drawing/2014/main" val="3385089732"/>
                    </a:ext>
                  </a:extLst>
                </a:gridCol>
                <a:gridCol w="1003110">
                  <a:extLst>
                    <a:ext uri="{9D8B030D-6E8A-4147-A177-3AD203B41FA5}">
                      <a16:colId xmlns:a16="http://schemas.microsoft.com/office/drawing/2014/main" val="4115392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Fit Statistic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Mean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Minimum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Maximum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32728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Stationary R-squared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.468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.468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.468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7975430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R-squared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.362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.362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.362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15174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RMSE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70.549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70.549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70.549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0389285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MAPE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12.522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12.522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12.522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9160233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MaxAPE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31.014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31.014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31.014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80193756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MAE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56.479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56.479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56.479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9930063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MaxAE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178.949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178.949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178.949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1543717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Normalized BIC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8.755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8.755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8.755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5181478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7ED1E6-8D41-8B1D-6388-090B9CED8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771527"/>
              </p:ext>
            </p:extLst>
          </p:nvPr>
        </p:nvGraphicFramePr>
        <p:xfrm>
          <a:off x="5152030" y="4366736"/>
          <a:ext cx="6860530" cy="22962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7121">
                  <a:extLst>
                    <a:ext uri="{9D8B030D-6E8A-4147-A177-3AD203B41FA5}">
                      <a16:colId xmlns:a16="http://schemas.microsoft.com/office/drawing/2014/main" val="1446358407"/>
                    </a:ext>
                  </a:extLst>
                </a:gridCol>
                <a:gridCol w="1016836">
                  <a:extLst>
                    <a:ext uri="{9D8B030D-6E8A-4147-A177-3AD203B41FA5}">
                      <a16:colId xmlns:a16="http://schemas.microsoft.com/office/drawing/2014/main" val="3806761924"/>
                    </a:ext>
                  </a:extLst>
                </a:gridCol>
                <a:gridCol w="869582">
                  <a:extLst>
                    <a:ext uri="{9D8B030D-6E8A-4147-A177-3AD203B41FA5}">
                      <a16:colId xmlns:a16="http://schemas.microsoft.com/office/drawing/2014/main" val="205523125"/>
                    </a:ext>
                  </a:extLst>
                </a:gridCol>
                <a:gridCol w="534946">
                  <a:extLst>
                    <a:ext uri="{9D8B030D-6E8A-4147-A177-3AD203B41FA5}">
                      <a16:colId xmlns:a16="http://schemas.microsoft.com/office/drawing/2014/main" val="3417492424"/>
                    </a:ext>
                  </a:extLst>
                </a:gridCol>
                <a:gridCol w="697043">
                  <a:extLst>
                    <a:ext uri="{9D8B030D-6E8A-4147-A177-3AD203B41FA5}">
                      <a16:colId xmlns:a16="http://schemas.microsoft.com/office/drawing/2014/main" val="3281693907"/>
                    </a:ext>
                  </a:extLst>
                </a:gridCol>
                <a:gridCol w="956513">
                  <a:extLst>
                    <a:ext uri="{9D8B030D-6E8A-4147-A177-3AD203B41FA5}">
                      <a16:colId xmlns:a16="http://schemas.microsoft.com/office/drawing/2014/main" val="28782559"/>
                    </a:ext>
                  </a:extLst>
                </a:gridCol>
                <a:gridCol w="604515">
                  <a:extLst>
                    <a:ext uri="{9D8B030D-6E8A-4147-A177-3AD203B41FA5}">
                      <a16:colId xmlns:a16="http://schemas.microsoft.com/office/drawing/2014/main" val="267806609"/>
                    </a:ext>
                  </a:extLst>
                </a:gridCol>
                <a:gridCol w="658081">
                  <a:extLst>
                    <a:ext uri="{9D8B030D-6E8A-4147-A177-3AD203B41FA5}">
                      <a16:colId xmlns:a16="http://schemas.microsoft.com/office/drawing/2014/main" val="2304635101"/>
                    </a:ext>
                  </a:extLst>
                </a:gridCol>
                <a:gridCol w="715893">
                  <a:extLst>
                    <a:ext uri="{9D8B030D-6E8A-4147-A177-3AD203B41FA5}">
                      <a16:colId xmlns:a16="http://schemas.microsoft.com/office/drawing/2014/main" val="1532268345"/>
                    </a:ext>
                  </a:extLst>
                </a:gridCol>
              </a:tblGrid>
              <a:tr h="452755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Estimate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271227"/>
                  </a:ext>
                </a:extLst>
              </a:tr>
              <a:tr h="600075">
                <a:tc rowSpan="4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Model_1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 rowSpan="4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Quantity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 rowSpan="4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No Transformation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Constant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3.894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.923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4.217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.000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52122377"/>
                  </a:ext>
                </a:extLst>
              </a:tr>
              <a:tr h="59563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AR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Lag 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-.014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.161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-.088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.930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25199080"/>
                  </a:ext>
                </a:extLst>
              </a:tr>
              <a:tr h="3429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Difference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61820593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MA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Lag 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.998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2.691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.371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.712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79216307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786E38B0-00D9-E0B0-2105-12DFC43DE65B}"/>
              </a:ext>
            </a:extLst>
          </p:cNvPr>
          <p:cNvSpPr/>
          <p:nvPr/>
        </p:nvSpPr>
        <p:spPr>
          <a:xfrm>
            <a:off x="11262850" y="5412658"/>
            <a:ext cx="749710" cy="144534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26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1777-0F0E-BB26-5979-2211176DC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805" y="310211"/>
            <a:ext cx="8911687" cy="767962"/>
          </a:xfrm>
        </p:spPr>
        <p:txBody>
          <a:bodyPr/>
          <a:lstStyle/>
          <a:p>
            <a:r>
              <a:rPr lang="en-US" dirty="0"/>
              <a:t>Residuals</a:t>
            </a:r>
            <a:endParaRPr lang="en-IN" dirty="0"/>
          </a:p>
        </p:txBody>
      </p:sp>
      <p:pic>
        <p:nvPicPr>
          <p:cNvPr id="4" name="Picture 3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7251B3BB-2E11-D115-F3BC-3B300B319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94" y="1310186"/>
            <a:ext cx="8911687" cy="547405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6BDDC33-00E4-5449-BF2B-235A1BB09BCA}"/>
              </a:ext>
            </a:extLst>
          </p:cNvPr>
          <p:cNvSpPr/>
          <p:nvPr/>
        </p:nvSpPr>
        <p:spPr>
          <a:xfrm>
            <a:off x="3986981" y="5262717"/>
            <a:ext cx="988142" cy="449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C0B74A-48EC-4F5C-2113-8CC7270E5CEF}"/>
              </a:ext>
            </a:extLst>
          </p:cNvPr>
          <p:cNvSpPr/>
          <p:nvPr/>
        </p:nvSpPr>
        <p:spPr>
          <a:xfrm>
            <a:off x="7914968" y="5208640"/>
            <a:ext cx="988142" cy="449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7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52572-E519-09DC-8320-DBCDCDA22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178" y="225188"/>
            <a:ext cx="8911687" cy="1280890"/>
          </a:xfrm>
        </p:spPr>
        <p:txBody>
          <a:bodyPr/>
          <a:lstStyle/>
          <a:p>
            <a:r>
              <a:rPr lang="en-US" dirty="0"/>
              <a:t>Forecasts</a:t>
            </a:r>
            <a:endParaRPr lang="en-IN" dirty="0"/>
          </a:p>
        </p:txBody>
      </p:sp>
      <p:pic>
        <p:nvPicPr>
          <p:cNvPr id="4" name="Picture 3" descr="A graph showing a line and a blue line&#10;&#10;Description automatically generated">
            <a:extLst>
              <a:ext uri="{FF2B5EF4-FFF2-40B4-BE49-F238E27FC236}">
                <a16:creationId xmlns:a16="http://schemas.microsoft.com/office/drawing/2014/main" id="{D6A0DD25-B499-E18E-138C-B81EE6DCA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610" y="1757362"/>
            <a:ext cx="9987033" cy="487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31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FC95-1684-F4BB-7533-BAF74BD5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895" y="137866"/>
            <a:ext cx="8911687" cy="928789"/>
          </a:xfrm>
        </p:spPr>
        <p:txBody>
          <a:bodyPr/>
          <a:lstStyle/>
          <a:p>
            <a:r>
              <a:rPr lang="en-US" dirty="0"/>
              <a:t>ARIMA (2, 1, 0)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D324F-4291-A75B-73FC-EF2AB0C2A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55077"/>
              </p:ext>
            </p:extLst>
          </p:nvPr>
        </p:nvGraphicFramePr>
        <p:xfrm>
          <a:off x="660944" y="1221617"/>
          <a:ext cx="10293992" cy="12896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7540">
                  <a:extLst>
                    <a:ext uri="{9D8B030D-6E8A-4147-A177-3AD203B41FA5}">
                      <a16:colId xmlns:a16="http://schemas.microsoft.com/office/drawing/2014/main" val="3687739011"/>
                    </a:ext>
                  </a:extLst>
                </a:gridCol>
                <a:gridCol w="1289842">
                  <a:extLst>
                    <a:ext uri="{9D8B030D-6E8A-4147-A177-3AD203B41FA5}">
                      <a16:colId xmlns:a16="http://schemas.microsoft.com/office/drawing/2014/main" val="3377155800"/>
                    </a:ext>
                  </a:extLst>
                </a:gridCol>
                <a:gridCol w="1583691">
                  <a:extLst>
                    <a:ext uri="{9D8B030D-6E8A-4147-A177-3AD203B41FA5}">
                      <a16:colId xmlns:a16="http://schemas.microsoft.com/office/drawing/2014/main" val="2661035418"/>
                    </a:ext>
                  </a:extLst>
                </a:gridCol>
                <a:gridCol w="1583691">
                  <a:extLst>
                    <a:ext uri="{9D8B030D-6E8A-4147-A177-3AD203B41FA5}">
                      <a16:colId xmlns:a16="http://schemas.microsoft.com/office/drawing/2014/main" val="1554321204"/>
                    </a:ext>
                  </a:extLst>
                </a:gridCol>
                <a:gridCol w="1583691">
                  <a:extLst>
                    <a:ext uri="{9D8B030D-6E8A-4147-A177-3AD203B41FA5}">
                      <a16:colId xmlns:a16="http://schemas.microsoft.com/office/drawing/2014/main" val="1143856797"/>
                    </a:ext>
                  </a:extLst>
                </a:gridCol>
                <a:gridCol w="791846">
                  <a:extLst>
                    <a:ext uri="{9D8B030D-6E8A-4147-A177-3AD203B41FA5}">
                      <a16:colId xmlns:a16="http://schemas.microsoft.com/office/drawing/2014/main" val="926357482"/>
                    </a:ext>
                  </a:extLst>
                </a:gridCol>
                <a:gridCol w="1583691">
                  <a:extLst>
                    <a:ext uri="{9D8B030D-6E8A-4147-A177-3AD203B41FA5}">
                      <a16:colId xmlns:a16="http://schemas.microsoft.com/office/drawing/2014/main" val="2399375703"/>
                    </a:ext>
                  </a:extLst>
                </a:gridCol>
              </a:tblGrid>
              <a:tr h="314325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Predictors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solidFill>
                            <a:schemeClr val="bg1"/>
                          </a:solidFill>
                          <a:effectLst/>
                        </a:rPr>
                        <a:t>Model Fit statistics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Ljung</a:t>
                      </a: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-Box Q(18)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solidFill>
                            <a:schemeClr val="bg1"/>
                          </a:solidFill>
                          <a:effectLst/>
                        </a:rPr>
                        <a:t>Number of Outliers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614055"/>
                  </a:ext>
                </a:extLst>
              </a:tr>
              <a:tr h="31432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Stationary R-squared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Statistics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solidFill>
                            <a:schemeClr val="bg1"/>
                          </a:solidFill>
                          <a:effectLst/>
                        </a:rPr>
                        <a:t>DF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5305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Quantity-Model_1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.456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8.665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.927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5958178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505B62-781F-07D3-5B45-57003B6D0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763090"/>
              </p:ext>
            </p:extLst>
          </p:nvPr>
        </p:nvGraphicFramePr>
        <p:xfrm>
          <a:off x="660944" y="2666265"/>
          <a:ext cx="4950405" cy="26127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7985">
                  <a:extLst>
                    <a:ext uri="{9D8B030D-6E8A-4147-A177-3AD203B41FA5}">
                      <a16:colId xmlns:a16="http://schemas.microsoft.com/office/drawing/2014/main" val="932438290"/>
                    </a:ext>
                  </a:extLst>
                </a:gridCol>
                <a:gridCol w="818866">
                  <a:extLst>
                    <a:ext uri="{9D8B030D-6E8A-4147-A177-3AD203B41FA5}">
                      <a16:colId xmlns:a16="http://schemas.microsoft.com/office/drawing/2014/main" val="1189506850"/>
                    </a:ext>
                  </a:extLst>
                </a:gridCol>
                <a:gridCol w="506839">
                  <a:extLst>
                    <a:ext uri="{9D8B030D-6E8A-4147-A177-3AD203B41FA5}">
                      <a16:colId xmlns:a16="http://schemas.microsoft.com/office/drawing/2014/main" val="1975834537"/>
                    </a:ext>
                  </a:extLst>
                </a:gridCol>
                <a:gridCol w="961230">
                  <a:extLst>
                    <a:ext uri="{9D8B030D-6E8A-4147-A177-3AD203B41FA5}">
                      <a16:colId xmlns:a16="http://schemas.microsoft.com/office/drawing/2014/main" val="3126436378"/>
                    </a:ext>
                  </a:extLst>
                </a:gridCol>
                <a:gridCol w="1105485">
                  <a:extLst>
                    <a:ext uri="{9D8B030D-6E8A-4147-A177-3AD203B41FA5}">
                      <a16:colId xmlns:a16="http://schemas.microsoft.com/office/drawing/2014/main" val="41164293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Fit Statistic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Mean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Minimum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Maximum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4263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Stationary R-squared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.456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.456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.456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8296155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R-squared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.348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.348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.348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782208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RMSE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71.332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71.332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71.332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13223852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MAPE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13.203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13.203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13.203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845301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MaxAPE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34.094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34.094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34.094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6526640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MAE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59.590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59.590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59.590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4418876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MaxAE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148.071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148.071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148.071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6181031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Normalized BIC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8.777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8.777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8.777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714242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4678CA-AFC2-781A-C0F7-243F23C04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89499"/>
              </p:ext>
            </p:extLst>
          </p:nvPr>
        </p:nvGraphicFramePr>
        <p:xfrm>
          <a:off x="5753336" y="4208111"/>
          <a:ext cx="6329172" cy="23447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9449">
                  <a:extLst>
                    <a:ext uri="{9D8B030D-6E8A-4147-A177-3AD203B41FA5}">
                      <a16:colId xmlns:a16="http://schemas.microsoft.com/office/drawing/2014/main" val="4258027917"/>
                    </a:ext>
                  </a:extLst>
                </a:gridCol>
                <a:gridCol w="34926">
                  <a:extLst>
                    <a:ext uri="{9D8B030D-6E8A-4147-A177-3AD203B41FA5}">
                      <a16:colId xmlns:a16="http://schemas.microsoft.com/office/drawing/2014/main" val="2072797368"/>
                    </a:ext>
                  </a:extLst>
                </a:gridCol>
                <a:gridCol w="1102334">
                  <a:extLst>
                    <a:ext uri="{9D8B030D-6E8A-4147-A177-3AD203B41FA5}">
                      <a16:colId xmlns:a16="http://schemas.microsoft.com/office/drawing/2014/main" val="717090"/>
                    </a:ext>
                  </a:extLst>
                </a:gridCol>
                <a:gridCol w="594493">
                  <a:extLst>
                    <a:ext uri="{9D8B030D-6E8A-4147-A177-3AD203B41FA5}">
                      <a16:colId xmlns:a16="http://schemas.microsoft.com/office/drawing/2014/main" val="2425212160"/>
                    </a:ext>
                  </a:extLst>
                </a:gridCol>
                <a:gridCol w="711189">
                  <a:extLst>
                    <a:ext uri="{9D8B030D-6E8A-4147-A177-3AD203B41FA5}">
                      <a16:colId xmlns:a16="http://schemas.microsoft.com/office/drawing/2014/main" val="2151281842"/>
                    </a:ext>
                  </a:extLst>
                </a:gridCol>
                <a:gridCol w="858712">
                  <a:extLst>
                    <a:ext uri="{9D8B030D-6E8A-4147-A177-3AD203B41FA5}">
                      <a16:colId xmlns:a16="http://schemas.microsoft.com/office/drawing/2014/main" val="896354563"/>
                    </a:ext>
                  </a:extLst>
                </a:gridCol>
                <a:gridCol w="598738">
                  <a:extLst>
                    <a:ext uri="{9D8B030D-6E8A-4147-A177-3AD203B41FA5}">
                      <a16:colId xmlns:a16="http://schemas.microsoft.com/office/drawing/2014/main" val="2117537011"/>
                    </a:ext>
                  </a:extLst>
                </a:gridCol>
                <a:gridCol w="777717">
                  <a:extLst>
                    <a:ext uri="{9D8B030D-6E8A-4147-A177-3AD203B41FA5}">
                      <a16:colId xmlns:a16="http://schemas.microsoft.com/office/drawing/2014/main" val="2665504985"/>
                    </a:ext>
                  </a:extLst>
                </a:gridCol>
                <a:gridCol w="631614">
                  <a:extLst>
                    <a:ext uri="{9D8B030D-6E8A-4147-A177-3AD203B41FA5}">
                      <a16:colId xmlns:a16="http://schemas.microsoft.com/office/drawing/2014/main" val="1060662181"/>
                    </a:ext>
                  </a:extLst>
                </a:gridCol>
              </a:tblGrid>
              <a:tr h="600075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Estimate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138348"/>
                  </a:ext>
                </a:extLst>
              </a:tr>
              <a:tr h="595630">
                <a:tc rowSpan="4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Model_1</a:t>
                      </a: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>
                          <a:effectLst/>
                        </a:rPr>
                        <a:t>Quantity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 rowSpan="4">
                  <a:txBody>
                    <a:bodyPr/>
                    <a:lstStyle/>
                    <a:p>
                      <a:pPr algn="l" fontAlgn="t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 rowSpan="4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No </a:t>
                      </a:r>
                      <a:r>
                        <a:rPr lang="en-IN" sz="1600" u="none" strike="noStrike" dirty="0" err="1">
                          <a:effectLst/>
                        </a:rPr>
                        <a:t>Transfor</a:t>
                      </a:r>
                      <a:endParaRPr lang="en-IN" sz="1600" u="none" strike="noStrike" dirty="0">
                        <a:effectLst/>
                      </a:endParaRPr>
                    </a:p>
                    <a:p>
                      <a:pPr algn="l" fontAlgn="t"/>
                      <a:r>
                        <a:rPr lang="en-IN" sz="1600" u="none" strike="noStrike" dirty="0" err="1">
                          <a:effectLst/>
                        </a:rPr>
                        <a:t>mation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Constant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3.095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4.476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.692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.493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22423239"/>
                  </a:ext>
                </a:extLst>
              </a:tr>
              <a:tr h="59563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AR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Lag 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-.786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.128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-6.128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.000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5808772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Lag 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-.530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.130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-4.082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.000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0962798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Difference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92553692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8A6EBE65-0F7D-8D8F-2303-4E5F3FD2A3CA}"/>
              </a:ext>
            </a:extLst>
          </p:cNvPr>
          <p:cNvSpPr/>
          <p:nvPr/>
        </p:nvSpPr>
        <p:spPr>
          <a:xfrm>
            <a:off x="11420446" y="5316794"/>
            <a:ext cx="660944" cy="12360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62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3FE0-4085-A6D0-1C88-FE024737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600" y="241973"/>
            <a:ext cx="8911687" cy="1280890"/>
          </a:xfrm>
        </p:spPr>
        <p:txBody>
          <a:bodyPr/>
          <a:lstStyle/>
          <a:p>
            <a:r>
              <a:rPr lang="en-US" dirty="0"/>
              <a:t>Residuals</a:t>
            </a:r>
            <a:endParaRPr lang="en-IN" dirty="0"/>
          </a:p>
        </p:txBody>
      </p:sp>
      <p:pic>
        <p:nvPicPr>
          <p:cNvPr id="4" name="Picture 3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C7672F4F-6506-079F-8AF5-56D31648A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77" y="1330657"/>
            <a:ext cx="10823262" cy="528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21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49F6-2416-3AE6-CEEF-32519D92E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28" y="233362"/>
            <a:ext cx="8911687" cy="776572"/>
          </a:xfrm>
        </p:spPr>
        <p:txBody>
          <a:bodyPr/>
          <a:lstStyle/>
          <a:p>
            <a:r>
              <a:rPr lang="en-US" dirty="0"/>
              <a:t>Forecasts</a:t>
            </a:r>
            <a:endParaRPr lang="en-IN" dirty="0"/>
          </a:p>
        </p:txBody>
      </p:sp>
      <p:pic>
        <p:nvPicPr>
          <p:cNvPr id="4" name="Picture 3" descr="A graph showing a blue line&#10;&#10;Description automatically generated">
            <a:extLst>
              <a:ext uri="{FF2B5EF4-FFF2-40B4-BE49-F238E27FC236}">
                <a16:creationId xmlns:a16="http://schemas.microsoft.com/office/drawing/2014/main" id="{C1BC27D0-558A-2261-7E18-161B362D6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56" y="1548789"/>
            <a:ext cx="10397537" cy="507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76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5D22-F6C3-BBA3-4A65-6A34F605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62" y="306333"/>
            <a:ext cx="8911687" cy="1280890"/>
          </a:xfrm>
        </p:spPr>
        <p:txBody>
          <a:bodyPr/>
          <a:lstStyle/>
          <a:p>
            <a:r>
              <a:rPr lang="en-US" dirty="0"/>
              <a:t>Combining Different Models Regression with intercept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3C009E-91FB-6ED1-4E68-326D11E15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160409"/>
              </p:ext>
            </p:extLst>
          </p:nvPr>
        </p:nvGraphicFramePr>
        <p:xfrm>
          <a:off x="2169994" y="1823350"/>
          <a:ext cx="8911689" cy="797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8632">
                  <a:extLst>
                    <a:ext uri="{9D8B030D-6E8A-4147-A177-3AD203B41FA5}">
                      <a16:colId xmlns:a16="http://schemas.microsoft.com/office/drawing/2014/main" val="2237566615"/>
                    </a:ext>
                  </a:extLst>
                </a:gridCol>
                <a:gridCol w="1708632">
                  <a:extLst>
                    <a:ext uri="{9D8B030D-6E8A-4147-A177-3AD203B41FA5}">
                      <a16:colId xmlns:a16="http://schemas.microsoft.com/office/drawing/2014/main" val="3284072419"/>
                    </a:ext>
                  </a:extLst>
                </a:gridCol>
                <a:gridCol w="2077161">
                  <a:extLst>
                    <a:ext uri="{9D8B030D-6E8A-4147-A177-3AD203B41FA5}">
                      <a16:colId xmlns:a16="http://schemas.microsoft.com/office/drawing/2014/main" val="1169667741"/>
                    </a:ext>
                  </a:extLst>
                </a:gridCol>
                <a:gridCol w="1708632">
                  <a:extLst>
                    <a:ext uri="{9D8B030D-6E8A-4147-A177-3AD203B41FA5}">
                      <a16:colId xmlns:a16="http://schemas.microsoft.com/office/drawing/2014/main" val="1947847949"/>
                    </a:ext>
                  </a:extLst>
                </a:gridCol>
                <a:gridCol w="1708632">
                  <a:extLst>
                    <a:ext uri="{9D8B030D-6E8A-4147-A177-3AD203B41FA5}">
                      <a16:colId xmlns:a16="http://schemas.microsoft.com/office/drawing/2014/main" val="179474687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 Square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Adjusted R Square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Std. Error of the Estimate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06243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.791</a:t>
                      </a:r>
                      <a:r>
                        <a:rPr lang="en-IN" sz="1600" u="none" strike="noStrike" baseline="30000" dirty="0">
                          <a:effectLst/>
                        </a:rPr>
                        <a:t>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.625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>
                          <a:effectLst/>
                        </a:rPr>
                        <a:t>.590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u="none" strike="noStrike" dirty="0">
                          <a:effectLst/>
                        </a:rPr>
                        <a:t>55.3351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1653046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572B36-DF54-D1E2-1269-00F659B68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52481"/>
              </p:ext>
            </p:extLst>
          </p:nvPr>
        </p:nvGraphicFramePr>
        <p:xfrm>
          <a:off x="2169994" y="3297404"/>
          <a:ext cx="8911688" cy="34271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8892">
                  <a:extLst>
                    <a:ext uri="{9D8B030D-6E8A-4147-A177-3AD203B41FA5}">
                      <a16:colId xmlns:a16="http://schemas.microsoft.com/office/drawing/2014/main" val="1080734523"/>
                    </a:ext>
                  </a:extLst>
                </a:gridCol>
                <a:gridCol w="1075413">
                  <a:extLst>
                    <a:ext uri="{9D8B030D-6E8A-4147-A177-3AD203B41FA5}">
                      <a16:colId xmlns:a16="http://schemas.microsoft.com/office/drawing/2014/main" val="3399646912"/>
                    </a:ext>
                  </a:extLst>
                </a:gridCol>
                <a:gridCol w="1416846">
                  <a:extLst>
                    <a:ext uri="{9D8B030D-6E8A-4147-A177-3AD203B41FA5}">
                      <a16:colId xmlns:a16="http://schemas.microsoft.com/office/drawing/2014/main" val="1946856522"/>
                    </a:ext>
                  </a:extLst>
                </a:gridCol>
                <a:gridCol w="1732825">
                  <a:extLst>
                    <a:ext uri="{9D8B030D-6E8A-4147-A177-3AD203B41FA5}">
                      <a16:colId xmlns:a16="http://schemas.microsoft.com/office/drawing/2014/main" val="1893712440"/>
                    </a:ext>
                  </a:extLst>
                </a:gridCol>
                <a:gridCol w="1555708">
                  <a:extLst>
                    <a:ext uri="{9D8B030D-6E8A-4147-A177-3AD203B41FA5}">
                      <a16:colId xmlns:a16="http://schemas.microsoft.com/office/drawing/2014/main" val="3547037916"/>
                    </a:ext>
                  </a:extLst>
                </a:gridCol>
                <a:gridCol w="962004">
                  <a:extLst>
                    <a:ext uri="{9D8B030D-6E8A-4147-A177-3AD203B41FA5}">
                      <a16:colId xmlns:a16="http://schemas.microsoft.com/office/drawing/2014/main" val="780947600"/>
                    </a:ext>
                  </a:extLst>
                </a:gridCol>
              </a:tblGrid>
              <a:tr h="441183">
                <a:tc rowSpan="2"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Unstandardized Coefficients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solidFill>
                            <a:schemeClr val="bg1"/>
                          </a:solidFill>
                          <a:effectLst/>
                        </a:rPr>
                        <a:t>Standardized Coefficients</a:t>
                      </a:r>
                      <a:endParaRPr lang="en-IN" sz="18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endParaRPr lang="en-IN" sz="18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8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117366"/>
                  </a:ext>
                </a:extLst>
              </a:tr>
              <a:tr h="4411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endParaRPr lang="en-IN" sz="18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Std. Error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Beta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426753"/>
                  </a:ext>
                </a:extLst>
              </a:tr>
              <a:tr h="432093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(Constant)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35.235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67.352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.523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.604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47005285"/>
                  </a:ext>
                </a:extLst>
              </a:tr>
              <a:tr h="57269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Regression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.158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.391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.114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.405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.687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07795098"/>
                  </a:ext>
                </a:extLst>
              </a:tr>
              <a:tr h="568448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Winters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.899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.351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.749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2.563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.014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87758400"/>
                  </a:ext>
                </a:extLst>
              </a:tr>
              <a:tr h="568448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>
                          <a:effectLst/>
                        </a:rPr>
                        <a:t>Simple Exp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-.363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.352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-.250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-1.030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.309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10538261"/>
                  </a:ext>
                </a:extLst>
              </a:tr>
              <a:tr h="29089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u="none" strike="noStrike" dirty="0">
                          <a:effectLst/>
                        </a:rPr>
                        <a:t>ARIMA (2,1,0)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.212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.290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.166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.731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.469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46694034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BEA2939E-6048-75AB-E90F-3E5B95848148}"/>
              </a:ext>
            </a:extLst>
          </p:cNvPr>
          <p:cNvSpPr/>
          <p:nvPr/>
        </p:nvSpPr>
        <p:spPr>
          <a:xfrm>
            <a:off x="4417142" y="5943601"/>
            <a:ext cx="988142" cy="449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B0B816-4B8F-508F-0C9F-757E09B8A7ED}"/>
              </a:ext>
            </a:extLst>
          </p:cNvPr>
          <p:cNvSpPr/>
          <p:nvPr/>
        </p:nvSpPr>
        <p:spPr>
          <a:xfrm flipV="1">
            <a:off x="10022006" y="4336027"/>
            <a:ext cx="1263445" cy="3588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2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315EA-883F-14FF-98B5-B0550004F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306333"/>
            <a:ext cx="8911687" cy="1280890"/>
          </a:xfrm>
        </p:spPr>
        <p:txBody>
          <a:bodyPr/>
          <a:lstStyle/>
          <a:p>
            <a:r>
              <a:rPr lang="en-US" dirty="0"/>
              <a:t>Combining Different Models Regression without intercept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72EE4E-54F2-9BD0-6DE4-346879751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732918"/>
              </p:ext>
            </p:extLst>
          </p:nvPr>
        </p:nvGraphicFramePr>
        <p:xfrm>
          <a:off x="1559293" y="4251158"/>
          <a:ext cx="945443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112">
                  <a:extLst>
                    <a:ext uri="{9D8B030D-6E8A-4147-A177-3AD203B41FA5}">
                      <a16:colId xmlns:a16="http://schemas.microsoft.com/office/drawing/2014/main" val="68469483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2651968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1980403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55882998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90769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Coefficients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Standard Error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 Stat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P-value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89945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Intercept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#N/A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#N/A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#N/A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505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F_Reg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0.2399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0.3555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0.6748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0.5033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2778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F_Winters_Additive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0.8460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0.3330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2.5403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0.0147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47315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F_Simple_Exp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-0.3229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-0.9469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0.3489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3142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F_ARIMA_210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0.2197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0.2873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0.7650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0.4484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1520531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0CC04C-C42D-C6BC-1DB4-69295A530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369505"/>
              </p:ext>
            </p:extLst>
          </p:nvPr>
        </p:nvGraphicFramePr>
        <p:xfrm>
          <a:off x="1559293" y="1865073"/>
          <a:ext cx="443724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156">
                  <a:extLst>
                    <a:ext uri="{9D8B030D-6E8A-4147-A177-3AD203B41FA5}">
                      <a16:colId xmlns:a16="http://schemas.microsoft.com/office/drawing/2014/main" val="1377120571"/>
                    </a:ext>
                  </a:extLst>
                </a:gridCol>
                <a:gridCol w="1787091">
                  <a:extLst>
                    <a:ext uri="{9D8B030D-6E8A-4147-A177-3AD203B41FA5}">
                      <a16:colId xmlns:a16="http://schemas.microsoft.com/office/drawing/2014/main" val="769339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Multiple 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0.9938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2397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Square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501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Adjusted R Square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0.9640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98884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Error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54.8765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42850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48.0000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1160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832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5D22-F6C3-BBA3-4A65-6A34F605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021" y="94792"/>
            <a:ext cx="8911687" cy="1280890"/>
          </a:xfrm>
        </p:spPr>
        <p:txBody>
          <a:bodyPr/>
          <a:lstStyle/>
          <a:p>
            <a:r>
              <a:rPr lang="en-US" dirty="0"/>
              <a:t>Combining Different Models Regression without intercept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DF559B-97E1-4B7B-8EBA-B86623159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388107"/>
              </p:ext>
            </p:extLst>
          </p:nvPr>
        </p:nvGraphicFramePr>
        <p:xfrm>
          <a:off x="2385021" y="1511127"/>
          <a:ext cx="8755187" cy="9547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4254">
                  <a:extLst>
                    <a:ext uri="{9D8B030D-6E8A-4147-A177-3AD203B41FA5}">
                      <a16:colId xmlns:a16="http://schemas.microsoft.com/office/drawing/2014/main" val="543296677"/>
                    </a:ext>
                  </a:extLst>
                </a:gridCol>
                <a:gridCol w="1704254">
                  <a:extLst>
                    <a:ext uri="{9D8B030D-6E8A-4147-A177-3AD203B41FA5}">
                      <a16:colId xmlns:a16="http://schemas.microsoft.com/office/drawing/2014/main" val="1819746884"/>
                    </a:ext>
                  </a:extLst>
                </a:gridCol>
                <a:gridCol w="1704254">
                  <a:extLst>
                    <a:ext uri="{9D8B030D-6E8A-4147-A177-3AD203B41FA5}">
                      <a16:colId xmlns:a16="http://schemas.microsoft.com/office/drawing/2014/main" val="3509261967"/>
                    </a:ext>
                  </a:extLst>
                </a:gridCol>
                <a:gridCol w="1938171">
                  <a:extLst>
                    <a:ext uri="{9D8B030D-6E8A-4147-A177-3AD203B41FA5}">
                      <a16:colId xmlns:a16="http://schemas.microsoft.com/office/drawing/2014/main" val="1254815791"/>
                    </a:ext>
                  </a:extLst>
                </a:gridCol>
                <a:gridCol w="1704254">
                  <a:extLst>
                    <a:ext uri="{9D8B030D-6E8A-4147-A177-3AD203B41FA5}">
                      <a16:colId xmlns:a16="http://schemas.microsoft.com/office/drawing/2014/main" val="1843818838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 Square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Adjusted R Square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Std. Error of the Estimate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66476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.994</a:t>
                      </a:r>
                      <a:r>
                        <a:rPr lang="en-IN" sz="1600" u="none" strike="noStrike" baseline="30000" dirty="0">
                          <a:effectLst/>
                        </a:rPr>
                        <a:t>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.987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.987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54.8134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825852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2A73C6-0022-458D-EB63-887A8D722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090990"/>
              </p:ext>
            </p:extLst>
          </p:nvPr>
        </p:nvGraphicFramePr>
        <p:xfrm>
          <a:off x="2385021" y="2702579"/>
          <a:ext cx="8843747" cy="2204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9146">
                  <a:extLst>
                    <a:ext uri="{9D8B030D-6E8A-4147-A177-3AD203B41FA5}">
                      <a16:colId xmlns:a16="http://schemas.microsoft.com/office/drawing/2014/main" val="1791098152"/>
                    </a:ext>
                  </a:extLst>
                </a:gridCol>
                <a:gridCol w="1187356">
                  <a:extLst>
                    <a:ext uri="{9D8B030D-6E8A-4147-A177-3AD203B41FA5}">
                      <a16:colId xmlns:a16="http://schemas.microsoft.com/office/drawing/2014/main" val="3586257445"/>
                    </a:ext>
                  </a:extLst>
                </a:gridCol>
                <a:gridCol w="1501253">
                  <a:extLst>
                    <a:ext uri="{9D8B030D-6E8A-4147-A177-3AD203B41FA5}">
                      <a16:colId xmlns:a16="http://schemas.microsoft.com/office/drawing/2014/main" val="68969154"/>
                    </a:ext>
                  </a:extLst>
                </a:gridCol>
                <a:gridCol w="1794681">
                  <a:extLst>
                    <a:ext uri="{9D8B030D-6E8A-4147-A177-3AD203B41FA5}">
                      <a16:colId xmlns:a16="http://schemas.microsoft.com/office/drawing/2014/main" val="923383635"/>
                    </a:ext>
                  </a:extLst>
                </a:gridCol>
                <a:gridCol w="1228298">
                  <a:extLst>
                    <a:ext uri="{9D8B030D-6E8A-4147-A177-3AD203B41FA5}">
                      <a16:colId xmlns:a16="http://schemas.microsoft.com/office/drawing/2014/main" val="481831622"/>
                    </a:ext>
                  </a:extLst>
                </a:gridCol>
                <a:gridCol w="1433013">
                  <a:extLst>
                    <a:ext uri="{9D8B030D-6E8A-4147-A177-3AD203B41FA5}">
                      <a16:colId xmlns:a16="http://schemas.microsoft.com/office/drawing/2014/main" val="635793239"/>
                    </a:ext>
                  </a:extLst>
                </a:gridCol>
              </a:tblGrid>
              <a:tr h="685515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Unstandardized Coefficients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Standardized Coefficients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044937"/>
                  </a:ext>
                </a:extLst>
              </a:tr>
              <a:tr h="40907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Std. Error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Beta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169029"/>
                  </a:ext>
                </a:extLst>
              </a:tr>
              <a:tr h="346073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Regression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.117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.330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.116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.354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.725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56481226"/>
                  </a:ext>
                </a:extLst>
              </a:tr>
              <a:tr h="346073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Winters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.868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.332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.869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2.616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.012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48622623"/>
                  </a:ext>
                </a:extLst>
              </a:tr>
              <a:tr h="418116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ARIMA (2, 1, 0)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.009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.181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.009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.047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.962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4576082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E916AB-6199-E25E-9D55-99A8D283F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856781"/>
              </p:ext>
            </p:extLst>
          </p:nvPr>
        </p:nvGraphicFramePr>
        <p:xfrm>
          <a:off x="2385021" y="5199797"/>
          <a:ext cx="8911686" cy="1409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307">
                  <a:extLst>
                    <a:ext uri="{9D8B030D-6E8A-4147-A177-3AD203B41FA5}">
                      <a16:colId xmlns:a16="http://schemas.microsoft.com/office/drawing/2014/main" val="195434285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808463077"/>
                    </a:ext>
                  </a:extLst>
                </a:gridCol>
                <a:gridCol w="1146412">
                  <a:extLst>
                    <a:ext uri="{9D8B030D-6E8A-4147-A177-3AD203B41FA5}">
                      <a16:colId xmlns:a16="http://schemas.microsoft.com/office/drawing/2014/main" val="3965884632"/>
                    </a:ext>
                  </a:extLst>
                </a:gridCol>
                <a:gridCol w="1501254">
                  <a:extLst>
                    <a:ext uri="{9D8B030D-6E8A-4147-A177-3AD203B41FA5}">
                      <a16:colId xmlns:a16="http://schemas.microsoft.com/office/drawing/2014/main" val="2743404206"/>
                    </a:ext>
                  </a:extLst>
                </a:gridCol>
                <a:gridCol w="1310185">
                  <a:extLst>
                    <a:ext uri="{9D8B030D-6E8A-4147-A177-3AD203B41FA5}">
                      <a16:colId xmlns:a16="http://schemas.microsoft.com/office/drawing/2014/main" val="145603797"/>
                    </a:ext>
                  </a:extLst>
                </a:gridCol>
                <a:gridCol w="1415728">
                  <a:extLst>
                    <a:ext uri="{9D8B030D-6E8A-4147-A177-3AD203B41FA5}">
                      <a16:colId xmlns:a16="http://schemas.microsoft.com/office/drawing/2014/main" val="1987381767"/>
                    </a:ext>
                  </a:extLst>
                </a:gridCol>
              </a:tblGrid>
              <a:tr h="371935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Sum of Squares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df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Mean Square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F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Sig.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254011"/>
                  </a:ext>
                </a:extLst>
              </a:tr>
              <a:tr h="294167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Regression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1,05,54,695.97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35,18,231.99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1,170.98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.000</a:t>
                      </a:r>
                      <a:r>
                        <a:rPr lang="en-IN" sz="1600" u="none" strike="noStrike" baseline="30000" dirty="0">
                          <a:effectLst/>
                        </a:rPr>
                        <a:t>c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42575284"/>
                  </a:ext>
                </a:extLst>
              </a:tr>
              <a:tr h="37193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Residual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1,35,203.03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3,004.51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55422995"/>
                  </a:ext>
                </a:extLst>
              </a:tr>
              <a:tr h="37193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u="none" strike="noStrike">
                          <a:effectLst/>
                        </a:rPr>
                        <a:t>Total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1,06,89,899.00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03246051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E84DAABD-63D0-5AFD-FC80-2F46558A87D7}"/>
              </a:ext>
            </a:extLst>
          </p:cNvPr>
          <p:cNvSpPr/>
          <p:nvPr/>
        </p:nvSpPr>
        <p:spPr>
          <a:xfrm>
            <a:off x="6096000" y="1988488"/>
            <a:ext cx="988142" cy="449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789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8C6E-D135-A8F2-CDDA-B6279233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265" y="240130"/>
            <a:ext cx="8911687" cy="885810"/>
          </a:xfrm>
        </p:spPr>
        <p:txBody>
          <a:bodyPr/>
          <a:lstStyle/>
          <a:p>
            <a:r>
              <a:rPr lang="en-US" dirty="0"/>
              <a:t>Residuals Combined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8B6FF-9447-ED61-92AA-EEC6EBD42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58" y="1908980"/>
            <a:ext cx="5991225" cy="480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13CAB2-D18F-A664-26D7-3E9F0B7C2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977" y="1817270"/>
            <a:ext cx="599122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52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3C85-F2C6-034D-0AF5-06FC4A69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430" y="255620"/>
            <a:ext cx="8911687" cy="890792"/>
          </a:xfrm>
        </p:spPr>
        <p:txBody>
          <a:bodyPr/>
          <a:lstStyle/>
          <a:p>
            <a:r>
              <a:rPr lang="en-US" dirty="0"/>
              <a:t>Combined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078324-5C93-7500-4D7E-4E54CD266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639" y="1241946"/>
            <a:ext cx="9940374" cy="536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767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B50F3-5A9C-3CD7-83C4-5650A6BC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952" y="276091"/>
            <a:ext cx="8911687" cy="890792"/>
          </a:xfrm>
        </p:spPr>
        <p:txBody>
          <a:bodyPr/>
          <a:lstStyle/>
          <a:p>
            <a:r>
              <a:rPr lang="en-US" dirty="0"/>
              <a:t>Model Comparison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079C5F-7A55-EF94-1B46-4468B2B80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238504"/>
              </p:ext>
            </p:extLst>
          </p:nvPr>
        </p:nvGraphicFramePr>
        <p:xfrm>
          <a:off x="1357952" y="1596789"/>
          <a:ext cx="10399595" cy="4593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9279">
                  <a:extLst>
                    <a:ext uri="{9D8B030D-6E8A-4147-A177-3AD203B41FA5}">
                      <a16:colId xmlns:a16="http://schemas.microsoft.com/office/drawing/2014/main" val="182564960"/>
                    </a:ext>
                  </a:extLst>
                </a:gridCol>
                <a:gridCol w="1404739">
                  <a:extLst>
                    <a:ext uri="{9D8B030D-6E8A-4147-A177-3AD203B41FA5}">
                      <a16:colId xmlns:a16="http://schemas.microsoft.com/office/drawing/2014/main" val="3143442422"/>
                    </a:ext>
                  </a:extLst>
                </a:gridCol>
                <a:gridCol w="1540681">
                  <a:extLst>
                    <a:ext uri="{9D8B030D-6E8A-4147-A177-3AD203B41FA5}">
                      <a16:colId xmlns:a16="http://schemas.microsoft.com/office/drawing/2014/main" val="1504825873"/>
                    </a:ext>
                  </a:extLst>
                </a:gridCol>
                <a:gridCol w="1540681">
                  <a:extLst>
                    <a:ext uri="{9D8B030D-6E8A-4147-A177-3AD203B41FA5}">
                      <a16:colId xmlns:a16="http://schemas.microsoft.com/office/drawing/2014/main" val="3398228928"/>
                    </a:ext>
                  </a:extLst>
                </a:gridCol>
                <a:gridCol w="1495367">
                  <a:extLst>
                    <a:ext uri="{9D8B030D-6E8A-4147-A177-3AD203B41FA5}">
                      <a16:colId xmlns:a16="http://schemas.microsoft.com/office/drawing/2014/main" val="285570160"/>
                    </a:ext>
                  </a:extLst>
                </a:gridCol>
                <a:gridCol w="1306304">
                  <a:extLst>
                    <a:ext uri="{9D8B030D-6E8A-4147-A177-3AD203B41FA5}">
                      <a16:colId xmlns:a16="http://schemas.microsoft.com/office/drawing/2014/main" val="1203955643"/>
                    </a:ext>
                  </a:extLst>
                </a:gridCol>
                <a:gridCol w="1412544">
                  <a:extLst>
                    <a:ext uri="{9D8B030D-6E8A-4147-A177-3AD203B41FA5}">
                      <a16:colId xmlns:a16="http://schemas.microsoft.com/office/drawing/2014/main" val="1888050944"/>
                    </a:ext>
                  </a:extLst>
                </a:gridCol>
              </a:tblGrid>
              <a:tr h="783865">
                <a:tc>
                  <a:txBody>
                    <a:bodyPr/>
                    <a:lstStyle/>
                    <a:p>
                      <a:pPr algn="l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Regression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Simple </a:t>
                      </a:r>
                    </a:p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Exponential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Winter’s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ARIMA (1,1,1)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ARIMA (2,1,0)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Combined</a:t>
                      </a:r>
                      <a:endParaRPr lang="en-IN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487576"/>
                  </a:ext>
                </a:extLst>
              </a:tr>
              <a:tr h="69237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 dirty="0">
                          <a:effectLst/>
                        </a:rPr>
                        <a:t>Stationary R-squared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.436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.779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.468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.456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85498810"/>
                  </a:ext>
                </a:extLst>
              </a:tr>
              <a:tr h="41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 dirty="0">
                          <a:effectLst/>
                        </a:rPr>
                        <a:t>R-squared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0.607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.316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.589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.362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.348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0.987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302066"/>
                  </a:ext>
                </a:extLst>
              </a:tr>
              <a:tr h="41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RMSE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61.958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70.809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56.088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70.549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71.332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53.073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39120129"/>
                  </a:ext>
                </a:extLst>
              </a:tr>
              <a:tr h="41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MAPE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0.101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12.521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9.678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12.522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13.203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.0941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34268191"/>
                  </a:ext>
                </a:extLst>
              </a:tr>
              <a:tr h="41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MaxAPE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0.336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32.454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28.041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31.014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34.094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.27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0470140"/>
                  </a:ext>
                </a:extLst>
              </a:tr>
              <a:tr h="41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MAE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45.372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57.941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43.353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56.479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59.590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42.5431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57911009"/>
                  </a:ext>
                </a:extLst>
              </a:tr>
              <a:tr h="417182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MaxAE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134.880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187.261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138.521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178.949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148.071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133.24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82452028"/>
                  </a:ext>
                </a:extLst>
              </a:tr>
              <a:tr h="42889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u="none" strike="noStrike">
                          <a:effectLst/>
                        </a:rPr>
                        <a:t>Normalized BIC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8.599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8.292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8.755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8.777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50696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730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6839-45E3-EA22-7F9D-229C3534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99980-3571-1448-6B0D-7F7EC8254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63877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1640</TotalTime>
  <Words>2029</Words>
  <Application>Microsoft Office PowerPoint</Application>
  <PresentationFormat>Widescreen</PresentationFormat>
  <Paragraphs>1037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Century Gothic</vt:lpstr>
      <vt:lpstr>Lucida Console</vt:lpstr>
      <vt:lpstr>Times New Roman</vt:lpstr>
      <vt:lpstr>Wingdings 3</vt:lpstr>
      <vt:lpstr>Wisp</vt:lpstr>
      <vt:lpstr>Forecasting  L and T – Spare Parts </vt:lpstr>
      <vt:lpstr>Introduction</vt:lpstr>
      <vt:lpstr>History</vt:lpstr>
      <vt:lpstr>Spare Parts at Construction and Mining Business (CMB)</vt:lpstr>
      <vt:lpstr>Spare Parts Classification</vt:lpstr>
      <vt:lpstr>Item Selected: 07063-51210I</vt:lpstr>
      <vt:lpstr>Pattern</vt:lpstr>
      <vt:lpstr>Seasonal Index</vt:lpstr>
      <vt:lpstr>ANOVA</vt:lpstr>
      <vt:lpstr>Regression</vt:lpstr>
      <vt:lpstr>Regression Results</vt:lpstr>
      <vt:lpstr>Regression Fit</vt:lpstr>
      <vt:lpstr>Simple Exponential Smoothing</vt:lpstr>
      <vt:lpstr>Residual ACF and PACF</vt:lpstr>
      <vt:lpstr>Forecasts</vt:lpstr>
      <vt:lpstr>ACF and PACF</vt:lpstr>
      <vt:lpstr>Augmented Dicky – Fuller Test</vt:lpstr>
      <vt:lpstr>Holt-Winters</vt:lpstr>
      <vt:lpstr>Forecast (Winter)</vt:lpstr>
      <vt:lpstr>Residuals (Winter)</vt:lpstr>
      <vt:lpstr>ARIMA</vt:lpstr>
      <vt:lpstr>ARIMA (1, 1, 1)</vt:lpstr>
      <vt:lpstr>Residuals</vt:lpstr>
      <vt:lpstr>Forecasts</vt:lpstr>
      <vt:lpstr>ARIMA (2, 1, 0)</vt:lpstr>
      <vt:lpstr>Residuals</vt:lpstr>
      <vt:lpstr>Forecasts</vt:lpstr>
      <vt:lpstr>Combining Different Models Regression with intercept</vt:lpstr>
      <vt:lpstr>Combining Different Models Regression without intercept</vt:lpstr>
      <vt:lpstr>Combining Different Models Regression without intercept</vt:lpstr>
      <vt:lpstr>Residuals Combined</vt:lpstr>
      <vt:lpstr>Combined</vt:lpstr>
      <vt:lpstr>Model Comparison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 L and T – Spare Parts </dc:title>
  <dc:creator>Vishnuprasad Nagadevara</dc:creator>
  <cp:lastModifiedBy>Vishnuprasad Nagadevara</cp:lastModifiedBy>
  <cp:revision>13</cp:revision>
  <dcterms:created xsi:type="dcterms:W3CDTF">2024-01-16T06:18:51Z</dcterms:created>
  <dcterms:modified xsi:type="dcterms:W3CDTF">2025-08-05T04:20:01Z</dcterms:modified>
</cp:coreProperties>
</file>